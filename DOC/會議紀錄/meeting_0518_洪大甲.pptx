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65A8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65A82"/>
                </a:solidFill>
                <a:latin typeface="Calibri"/>
              </a:rPr>
              <a:t>R drift over 30 cycles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(mΩ)</c:v>
                </c:pt>
              </c:strCache>
            </c:strRef>
          </c:tx>
          <c:spPr>
            <a:solidFill>
              <a:srgbClr val="E8924E"/>
            </a:solidFill>
            <a:ln w="38100" cap="flat">
              <a:solidFill>
                <a:srgbClr val="E892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924E"/>
              </a:solidFill>
              <a:ln w="9525" cap="flat">
                <a:solidFill>
                  <a:srgbClr val="E892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59.78</c:v>
                </c:pt>
                <c:pt idx="1">
                  <c:v>59.39</c:v>
                </c:pt>
                <c:pt idx="2">
                  <c:v>59.5</c:v>
                </c:pt>
                <c:pt idx="3">
                  <c:v>59.36</c:v>
                </c:pt>
                <c:pt idx="4">
                  <c:v>59.28</c:v>
                </c:pt>
                <c:pt idx="5">
                  <c:v>59.08</c:v>
                </c:pt>
                <c:pt idx="6">
                  <c:v>59.09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21295C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21295C"/>
                    </a:solidFill>
                    <a:latin typeface="Calibri"/>
                  </a:rPr>
                  <a:t>Cycle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9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1"/>
          <c:min val="5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95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4F6FA"/>
    </a:solidFill>
    <a:ln w="12700" cap="flat">
      <a:solidFill>
        <a:srgbClr val="D8DEE7"/>
      </a:solidFill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｜ 0518 會議簡報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電池 Rate Capability、R(SoC) 與跨輪老化分析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NMC 2000 mAh  •  Rounds 1–7  •  24+ cycles（儲存不計）  •  Snapshot a3c7678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3383280" cy="1554480"/>
          </a:xfrm>
          <a:prstGeom prst="rect">
            <a:avLst/>
          </a:prstGeom>
          <a:solidFill>
            <a:srgbClr val="1072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1655.8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baseline @ 0.5C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4297680"/>
            <a:ext cx="3383280" cy="1554480"/>
          </a:xfrm>
          <a:prstGeom prst="rect">
            <a:avLst/>
          </a:prstGeom>
          <a:solidFill>
            <a:srgbClr val="1072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−0.4%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1772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drop 0.5C → 2.0C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4297680"/>
            <a:ext cx="3383280" cy="1554480"/>
          </a:xfrm>
          <a:prstGeom prst="rect">
            <a:avLst/>
          </a:prstGeom>
          <a:solidFill>
            <a:srgbClr val="1072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58–64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mΩ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2104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(plateau / DC)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+ IT6302 PSU + IT8512A+ Load + INA226 (calibrated)  ｜  TEST/round_runner_v1.py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74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Takeaways — 一頁綜覽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148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Baseline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253288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1655.8 mAh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0.5C，≈ 0.83 × rated。rounds 2–6 mean (排除 round 1 outlier)。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98080" y="2148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Capability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0" y="253288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3154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0.5C → 2.0C 容量幾乎不掉。動態阻抗 SoC 訊號偏小，演算法靈敏度需小步進實驗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526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526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83080" y="45262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R(SoC) U-shape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49103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58 mΩ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05840" y="5532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R₀ ≈ 64 mΩ；perturbation plateau ≈ 58 mΩ；cutoff 區急升 9 mΩ。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42519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4526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526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498080" y="45262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 Drift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98080" y="49103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720840" y="5532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30 cycle R 微降 = 浸潤 + 溫漂，不是 SoH 退化，從 cycle ≥ 50 再看 dR。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資料快照：commit a3c7678  •  rounds 1-6 完整 + round 7 進行中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74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實驗平台與資料快照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平台組成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NMC，rated 2000 mAh，V_cv 4.2 V，V_cutoff 2.5 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IT6302（programmable，SCPI；CURR readback 強制驗證）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IT8512A+（CC discharge，每 60 s perturb 0.2C dwell 1 s）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3703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INA226（14 點線性內插校正，誤差 &lt; 0.21 mA）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+ Python TEST/round_runner_v1.py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1737360"/>
            <a:ext cx="4526280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資料規模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23774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rounds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0" y="27249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完整 + round 7 進行中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3182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cycles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0" y="35295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每輪 4 個 rate cycle（儲存不計）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398678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C-rates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315200" y="43342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/ 1.0 / 1.5 / 2.0 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479145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Hz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sampling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15200" y="51389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抓 dV/dI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環境：lab 未恆溫，ambient 推估 24–28°C（季節性偏移，列為已知 limitation）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74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baseline = 1655.8 mAh @ 0.5C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1655.8</a:t>
            </a:r>
            <a:pPr indent="0" marL="0">
              <a:buNone/>
            </a:pPr>
            <a:r>
              <a:rPr lang="en-US" sz="2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mAh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2–6 mean，σ/μ = 0.54%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9728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0.83 × rated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9319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標稱 2000 mAh，實測 ≈ 0.83 × rated（25°C, 2.5 V cutoff）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9728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高可重現性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σ/μ 僅 0.54%，cell-to-cell 與輪間漂移已收斂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109728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排除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5120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起始 OCV 4.19 V → already_full bypass，charge step 37 s 跳過，SoC 起點偏高 ~0.5%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192024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vs MEASURED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0" y="2606040"/>
            <a:ext cx="2697480" cy="274320"/>
          </a:xfrm>
          <a:prstGeom prst="rect">
            <a:avLst/>
          </a:prstGeom>
          <a:solidFill>
            <a:srgbClr val="D8DEE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257860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mAh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0" y="3154680"/>
            <a:ext cx="2240280" cy="27432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31272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1656 mAh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36118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pPr algn="ctr" indent="0" marL="0">
              <a:buNone/>
            </a:pPr>
            <a:r>
              <a:rPr lang="en-US" sz="28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777240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rated capacity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TEST/data/cycle_log.csv  •  cycles 5, 10, 15, 20, 25 (0.5C, rounds 2-6)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74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capability 極佳 — 0.5C → 2.0C 容量僅 −0.4%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6217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62179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18928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 Q (mAh)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892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(mAh)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892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σ/μ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3774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2377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1660.3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23774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035808"/>
            <a:ext cx="6217920" cy="65836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0358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303580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303580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1656.5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0358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303580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69417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369417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71800" y="36941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1653.6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69417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3694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352544"/>
            <a:ext cx="6217920" cy="65836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35254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011680" y="435254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71800" y="435254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1649.3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43525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760720" y="435254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0" y="1828800"/>
            <a:ext cx="4389120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0.5C 到 2.0C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589520" y="2331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−0.4%</a:t>
            </a:r>
            <a:endParaRPr lang="en-US" sz="7200" dirty="0"/>
          </a:p>
        </p:txBody>
      </p:sp>
      <p:sp>
        <p:nvSpPr>
          <p:cNvPr id="39" name="Text 37"/>
          <p:cNvSpPr/>
          <p:nvPr/>
        </p:nvSpPr>
        <p:spPr>
          <a:xfrm>
            <a:off x="758952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容量幾乎不掉。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89520" y="4160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Cell 內阻夠低，rate sensitivity 不會困住高 C 放電；但對動態阻抗法 SoC 來說，IR signal 偏小，演算法靈敏度要做小步進實驗。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排除 round 1 outlier（已 full bypass）；rounds 2–6, n=6 per C-rate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74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3 /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內阻 — 兩種量測法互相驗證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440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544068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83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v_start 線性回歸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≈ 64 mΩ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V_oc − R · 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" y="375818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4 個 C-rate 的 discharge 起始 v_start 與 I 做線性回歸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416966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0.5C → 4.128 V，2.0C → 3.968 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" y="458114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V_oc ≈ 4.180 V（cell 充飽 OCV）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" y="499262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R₀ + 早期 transient（cell 尚未自熱）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5440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737360"/>
            <a:ext cx="544068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783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(1 s 階躍)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≈ 58 mΩ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629400" y="3154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−dV/dI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47688" y="37581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60 s 從 main C-rate 短暫降到 0.2C dwell 1 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47688" y="416966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perturb_high row 的 dvdi 直接給 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47688" y="45811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已運轉 ≥ 60 s，cell 自熱 → R 偏低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47688" y="499262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 SoC 50–60% 的 plateau 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989320"/>
            <a:ext cx="109270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98932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兩者一致 — 差異 ~6 mΩ 來自 cell 自熱 (R 為 NTC) 與 v_start 含早期 transient。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74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3 / 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R(SoC) U-shape — plateau 最低、cutoff 急升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7680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76809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01368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bin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801368"/>
            <a:ext cx="1325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1801368"/>
            <a:ext cx="1325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801368"/>
            <a:ext cx="1325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1801368"/>
            <a:ext cx="1325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100–90%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194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 ± 0.6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194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 ± 0.6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2194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 ± 0.7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2194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 ± 0.6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560320"/>
            <a:ext cx="7680960" cy="3657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90–80%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2560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 ± 0.5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86200" y="2560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 ± 0.5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2560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 ± 0.6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560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 ± 0.6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80–70%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2926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 ± 0.4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86200" y="2926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 ± 0.4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926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 ± 0.4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2926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 ± 0.3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291840"/>
            <a:ext cx="7680960" cy="3657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70–60%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 ± 0.3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86200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58.0 ± 0.3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57.2 ± 0.3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 ± 0.3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657600"/>
            <a:ext cx="7680960" cy="365760"/>
          </a:xfrm>
          <a:prstGeom prst="rect">
            <a:avLst/>
          </a:prstGeom>
          <a:solidFill>
            <a:srgbClr val="FFF1E0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60–50%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77440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 ± 0.3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86200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 ± 0.3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 ± 0.3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03720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56.1 ± 0.2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4023360"/>
            <a:ext cx="7680960" cy="3657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50–40%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377440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 ± 0.3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86200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 ± 0.3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94960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 ± 0.2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03720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56.1 ± 0.2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40–30%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377440" y="4389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 ± 0.2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86200" y="4389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58.2 ± 0.2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94960" y="4389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 ± 0.2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03720" y="4389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 ± 0.2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" y="4754880"/>
            <a:ext cx="7680960" cy="3657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30–20%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377440" y="4754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 ± 0.3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886200" y="4754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 ± 0.2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94960" y="4754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 ± 0.2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03720" y="4754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 ± 0.2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152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20–10%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377440" y="51206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60.5 ± 0.3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886200" y="51206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 ± 0.3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394960" y="51206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 ± 0.3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903720" y="51206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 ± 0.2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" y="5486400"/>
            <a:ext cx="7680960" cy="365760"/>
          </a:xfrm>
          <a:prstGeom prst="rect">
            <a:avLst/>
          </a:prstGeom>
          <a:solidFill>
            <a:srgbClr val="FCE4D1"/>
          </a:solidFill>
          <a:ln/>
        </p:spPr>
      </p:sp>
      <p:sp>
        <p:nvSpPr>
          <p:cNvPr id="65" name="Text 63"/>
          <p:cNvSpPr/>
          <p:nvPr/>
        </p:nvSpPr>
        <p:spPr>
          <a:xfrm>
            <a:off x="731520" y="5486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10– 0%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377440" y="5486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 ± 8.7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886200" y="5486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 ± 2.0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394960" y="5486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 ± 1.6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903720" y="5486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58.2 ± 1.6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40080" y="6080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mΩ ± σ  (rounds 2–6)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595360" y="1783080"/>
            <a:ext cx="3017520" cy="4160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2" name="Text 70"/>
          <p:cNvSpPr/>
          <p:nvPr/>
        </p:nvSpPr>
        <p:spPr>
          <a:xfrm>
            <a:off x="877824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778240" y="2377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最低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8778240" y="26700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50–60%（典型 NMC graphite）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778240" y="3246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急升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778240" y="35387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→ 10–0% 升 +9 mΩ；動態阻抗法的有效訊號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778240" y="4114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在 &lt; 10% 爆炸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778240" y="44074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0.5C σ=8.7 mΩ — 是 V(SoC) 曲率 + 1 s 視窗的 artefact，不是 cell 變了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778240" y="4983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C 自熱降 R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8778240" y="5276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0.5C → 2.0C plateau 59.4 → 56.1 mΩ（−5.5%）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粗體底色：橘＝plateau min；紅橘＝cutoff rise（動態阻抗法 SoC 演算法的關鍵訊號）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74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4 /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30 cycle R 微降 1.2% — 不是 SoH 退化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029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5029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(mΩ) @ SoC 50–60%, 0.5C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240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5029200" cy="41148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651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063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474720"/>
            <a:ext cx="5029200" cy="41148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474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3886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59.28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297680"/>
            <a:ext cx="5029200" cy="41148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20240" y="4297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709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920240" y="4709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4709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59.09</a:t>
            </a:r>
            <a:endParaRPr lang="en-US" sz="13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6035040" y="1783080"/>
          <a:ext cx="55778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640080" y="5166360"/>
            <a:ext cx="109270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5"/>
          <p:cNvSpPr/>
          <p:nvPr/>
        </p:nvSpPr>
        <p:spPr>
          <a:xfrm>
            <a:off x="868680" y="525780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跟直覺「老化會上升」反向 — 但這是 fresh cell 前 30–100 cycle 的 commissioning 效應，不是 SoH 退化。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68680" y="562356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cycle 共 −1.2%。要看真正的 SoH dR/dcycle，須等 fresh cell commissioning 完成（cycle ≥ 50）後再看。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74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4 / 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 artefact 的歸因（按證據強度排序）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164592" cy="2057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65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965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電解液浸潤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984248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9842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"(dis)charge curves converge after 30 cycles" — Lechtenfeld et al. 2024 Adv Sci. Wetting 過程中 HFR 持續變化（Gamry EIS app note）。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Lechtenfeld 2024 ｜ Gamry EIS Wetting Note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783080"/>
            <a:ext cx="164592" cy="2057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965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1965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環境溫漂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89920" y="1984248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0" y="19842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鋰電池 DC R 為 NTC，溫度係數 −2 to −5%/°C。對本實驗 −1.2% 偏移，ambient 偏 0.3–0.6°C 即可解釋。lab 未恆溫是主要不確定性。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University BU-410 ｜ ScienceDirect 2025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069080"/>
            <a:ext cx="164592" cy="2057400"/>
          </a:xfrm>
          <a:prstGeom prst="rect">
            <a:avLst/>
          </a:prstGeom>
          <a:solidFill>
            <a:srgbClr val="6E7A8A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251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4251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重組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74920" y="4270248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6E7A8A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42702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graphite anode NMC cell 的直接證據不足；主要佐證來自 Li-metal 系統。列為待驗證假說，不作為主要解釋。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PMC10463237 ｜ An et al. 2016 Carbon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406908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069080"/>
            <a:ext cx="164592" cy="2057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4251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0" y="4251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 R rise 的時程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789920" y="4270248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10789920" y="42702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NMC811 R 33 → 100 mΩ over 1600 cycles（≈ 0.04 mΩ/cycle 平均）。前 100 cycle 訊號被浸潤與溫漂蓋掉。Knees 出現在更後段。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Reis 2024 Sci Data ｜ Attia 2022 JES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完整文獻清單見 DOC/分析紀錄/2026-05-18_rate_capability_and_R_analysis.md §4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 &amp; 下一步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440680" cy="4434840"/>
          </a:xfrm>
          <a:prstGeom prst="rect">
            <a:avLst/>
          </a:prstGeom>
          <a:solidFill>
            <a:srgbClr val="1072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論文章節怎麼寫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2700000">
            <a:off x="960120" y="2651760"/>
            <a:ext cx="320040" cy="32004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baseline 1655.8 mAh（rounds 2-6 mean）作為 Q_rated_actual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2700000">
            <a:off x="960120" y="3566160"/>
            <a:ext cx="320040" cy="32004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3375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capability 表：−0.4% (0.5C→2.0C) — IR signal 偏小要在 SoC 演算法章節 caveat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60120" y="4480560"/>
            <a:ext cx="320040" cy="32004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2519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R(SoC) U 型 + cutoff +9 mΩ：動態阻抗法 SoC 演算法的主要訊號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2700000">
            <a:off x="960120" y="5394960"/>
            <a:ext cx="320040" cy="32004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94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51663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Cross-round R 微降 1.2% 列為 commissioning 不算 SoH 退化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1874520"/>
            <a:ext cx="5440680" cy="44348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011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514600"/>
            <a:ext cx="91440" cy="59436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章節從 cycle ≥ 50 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 fresh cell commissioning 過完，再分析 dR/dcycle 與 capacity fade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429000"/>
            <a:ext cx="91440" cy="59436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 ambient 溫感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657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 Arrhenius 修正；目前 lab 未恆溫已列入 limitations 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343400"/>
            <a:ext cx="91440" cy="59436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251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round 7 + 延伸到 round 8+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12280" y="4572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老化趨勢需要更長時程；目前 round 7 cyc30 mid-run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5257800"/>
            <a:ext cx="91440" cy="594360"/>
          </a:xfrm>
          <a:prstGeom prst="rect">
            <a:avLst/>
          </a:prstGeom>
          <a:solidFill>
            <a:srgbClr val="E8924E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5166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渲染論文圖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5486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R(SoC) U 型 + cross-round drift 圖，存進 DOC/論文撰寫/figs/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a3c7678  •  DOC/分析紀錄/2026-05-18_rate_capability_and_R_analysis.md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 Capability + R(SoC) Analysis — 2026-05-18 Meeting</dc:title>
  <dc:subject>PptxGenJS Presentation</dc:subject>
  <dc:creator>SOC_RESEARCH</dc:creator>
  <cp:lastModifiedBy>SOC_RESEARCH</cp:lastModifiedBy>
  <cp:revision>1</cp:revision>
  <dcterms:created xsi:type="dcterms:W3CDTF">2026-05-18T05:48:54Z</dcterms:created>
  <dcterms:modified xsi:type="dcterms:W3CDTF">2026-05-18T05:48:54Z</dcterms:modified>
</cp:coreProperties>
</file>