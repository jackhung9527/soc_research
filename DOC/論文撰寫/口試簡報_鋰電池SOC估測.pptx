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286000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"/>
            <a:ext cx="1033272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1800" b="0" i="0">
                <a:solidFill>
                  <a:srgbClr val="DEEBF7"/>
                </a:solidFill>
                <a:latin typeface="Microsoft JhengHei"/>
              </a:rPr>
              <a:t>中原大學　電機工程學系　碩士學位論文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87168"/>
            <a:ext cx="1069848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Microsoft JhengHei"/>
              </a:rPr>
              <a:t>鋰電池 SOC 估測方法之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46704"/>
            <a:ext cx="1069848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Microsoft JhengHei"/>
              </a:rPr>
              <a:t>比較與嵌入式實作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106984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500" b="0" i="1">
                <a:solidFill>
                  <a:srgbClr val="DEEBF7"/>
                </a:solidFill>
                <a:latin typeface="Times New Roman"/>
              </a:rPr>
              <a:t>A Comparative Study and Embedded Implementation of SOC Estimation Methods for Li-ion Batteries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83480"/>
            <a:ext cx="1069848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icrosoft JhengHei"/>
              </a:rPr>
              <a:t>研究生　：</a:t>
            </a:r>
            <a:r>
              <a:rPr sz="1800" b="0" i="0">
                <a:solidFill>
                  <a:srgbClr val="DEEBF7"/>
                </a:solidFill>
                <a:latin typeface="Microsoft JhengHei"/>
              </a:rPr>
              <a:t>洪大甲</a:t>
            </a:r>
          </a:p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icrosoft JhengHei"/>
              </a:rPr>
              <a:t>指導教授：</a:t>
            </a:r>
            <a:r>
              <a:rPr sz="1800" b="0" i="0">
                <a:solidFill>
                  <a:srgbClr val="DEEBF7"/>
                </a:solidFill>
                <a:latin typeface="Microsoft JhengHei"/>
              </a:rPr>
              <a:t>鄭維凱</a:t>
            </a:r>
          </a:p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Microsoft JhengHei"/>
              </a:rPr>
              <a:t>中華民國　115 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簡報大綱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簡報大綱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1 / 21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325880"/>
            <a:ext cx="475488" cy="47548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289304"/>
            <a:ext cx="100584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000" b="1" i="0">
                <a:solidFill>
                  <a:srgbClr val="1F3864"/>
                </a:solidFill>
                <a:latin typeface="Microsoft JhengHei"/>
              </a:rPr>
              <a:t>研究背景與動機　</a:t>
            </a:r>
            <a:r>
              <a:rPr sz="1400" b="0" i="0">
                <a:solidFill>
                  <a:srgbClr val="595959"/>
                </a:solidFill>
                <a:latin typeface="Microsoft JhengHei"/>
              </a:rPr>
              <a:t>　BMS、SOC 角色與兩個研究缺口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952243"/>
            <a:ext cx="475488" cy="47548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15667"/>
            <a:ext cx="100584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000" b="1" i="0">
                <a:solidFill>
                  <a:srgbClr val="1F3864"/>
                </a:solidFill>
                <a:latin typeface="Microsoft JhengHei"/>
              </a:rPr>
              <a:t>研究目的與貢獻　</a:t>
            </a:r>
            <a:r>
              <a:rPr sz="1400" b="0" i="0">
                <a:solidFill>
                  <a:srgbClr val="595959"/>
                </a:solidFill>
                <a:latin typeface="Microsoft JhengHei"/>
              </a:rPr>
              <a:t>　同電池・同協定・同 MCU 的公平比較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578608"/>
            <a:ext cx="475488" cy="47548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542032"/>
            <a:ext cx="100584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000" b="1" i="0">
                <a:solidFill>
                  <a:srgbClr val="1F3864"/>
                </a:solidFill>
                <a:latin typeface="Microsoft JhengHei"/>
              </a:rPr>
              <a:t>文獻回顧　</a:t>
            </a:r>
            <a:r>
              <a:rPr sz="1400" b="0" i="0">
                <a:solidFill>
                  <a:srgbClr val="595959"/>
                </a:solidFill>
                <a:latin typeface="Microsoft JhengHei"/>
              </a:rPr>
              <a:t>　等效電路模型與 SOC 方法分類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204972"/>
            <a:ext cx="475488" cy="47548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68396"/>
            <a:ext cx="100584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000" b="1" i="0">
                <a:solidFill>
                  <a:srgbClr val="1F3864"/>
                </a:solidFill>
                <a:latin typeface="Microsoft JhengHei"/>
              </a:rPr>
              <a:t>測試平台與量測校正　</a:t>
            </a:r>
            <a:r>
              <a:rPr sz="1400" b="0" i="0">
                <a:solidFill>
                  <a:srgbClr val="595959"/>
                </a:solidFill>
                <a:latin typeface="Microsoft JhengHei"/>
              </a:rPr>
              <a:t>　系統架構、韌體骨架、INA226 校正、測試協定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831335"/>
            <a:ext cx="475488" cy="47548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794759"/>
            <a:ext cx="100584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000" b="1" i="0">
                <a:solidFill>
                  <a:srgbClr val="1F3864"/>
                </a:solidFill>
                <a:latin typeface="Microsoft JhengHei"/>
              </a:rPr>
              <a:t>三種 SOC 估測方法　</a:t>
            </a:r>
            <a:r>
              <a:rPr sz="1400" b="0" i="0">
                <a:solidFill>
                  <a:srgbClr val="595959"/>
                </a:solidFill>
                <a:latin typeface="Microsoft JhengHei"/>
              </a:rPr>
              <a:t>　庫倫計數、EKF、動態阻抗 — 原理與實作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457700"/>
            <a:ext cx="475488" cy="47548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421124"/>
            <a:ext cx="100584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000" b="1" i="0">
                <a:solidFill>
                  <a:srgbClr val="1F3864"/>
                </a:solidFill>
                <a:latin typeface="Microsoft JhengHei"/>
              </a:rPr>
              <a:t>實測結果與方法比較　</a:t>
            </a:r>
            <a:r>
              <a:rPr sz="1400" b="0" i="0">
                <a:solidFill>
                  <a:srgbClr val="595959"/>
                </a:solidFill>
                <a:latin typeface="Microsoft JhengHei"/>
              </a:rPr>
              <a:t>　rate-capability、動態阻抗擬合、精度/資源比較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084064"/>
            <a:ext cx="475488" cy="47548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047488"/>
            <a:ext cx="100584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000" b="1" i="0">
                <a:solidFill>
                  <a:srgbClr val="1F3864"/>
                </a:solidFill>
                <a:latin typeface="Microsoft JhengHei"/>
              </a:rPr>
              <a:t>系統整合與長期再現性　</a:t>
            </a:r>
            <a:r>
              <a:rPr sz="1400" b="0" i="0">
                <a:solidFill>
                  <a:srgbClr val="595959"/>
                </a:solidFill>
                <a:latin typeface="Microsoft JhengHei"/>
              </a:rPr>
              <a:t>　三法並行、老化與噪聲分離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710428"/>
            <a:ext cx="475488" cy="475488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673852"/>
            <a:ext cx="100584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000" b="1" i="0">
                <a:solidFill>
                  <a:srgbClr val="1F3864"/>
                </a:solidFill>
                <a:latin typeface="Microsoft JhengHei"/>
              </a:rPr>
              <a:t>結論、決策表與未來工作　</a:t>
            </a:r>
            <a:r>
              <a:rPr sz="1400" b="0" i="0">
                <a:solidFill>
                  <a:srgbClr val="595959"/>
                </a:solidFill>
                <a:latin typeface="Microsoft JhengHei"/>
              </a:rPr>
              <a:t>　方法選用建議、SOH 延伸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一、研究背景</a:t>
            </a:r>
          </a:p>
          <a:p>
            <a:r>
              <a:rPr sz="1300" b="0" i="0">
                <a:solidFill>
                  <a:srgbClr val="DEEBF7"/>
                </a:solidFill>
                <a:latin typeface="Microsoft JhengHei"/>
              </a:rPr>
              <a:t>BMS 與 SOC 在鋰電池系統中的關鍵角色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研究背景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2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676656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800" b="1" i="0">
                <a:solidFill>
                  <a:srgbClr val="1F3864"/>
                </a:solidFill>
                <a:latin typeface="Microsoft JhengHei"/>
              </a:rPr>
              <a:t>鋰離子電池已成為電動車、可攜式裝置與儲能系統的主力儲能元件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600" b="0" i="0">
                <a:solidFill>
                  <a:srgbClr val="404040"/>
                </a:solidFill>
                <a:latin typeface="Microsoft JhengHei"/>
              </a:rPr>
              <a:t>電池管理系統（BMS）負責電壓/電流/溫度監控、均衡與保護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600" b="0" i="0">
                <a:solidFill>
                  <a:srgbClr val="404040"/>
                </a:solidFill>
                <a:latin typeface="Microsoft JhengHei"/>
              </a:rPr>
              <a:t>SOC（荷電狀態）＝可用電量 ÷ 額定容量，相當於電池的「油量表」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Microsoft JhengHei"/>
              </a:rPr>
              <a:t>SOC 估測的根本困難：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500" b="0" i="0">
                <a:solidFill>
                  <a:srgbClr val="404040"/>
                </a:solidFill>
                <a:latin typeface="Microsoft JhengHei"/>
              </a:rPr>
              <a:t>SOC 無法直接量測，只能由端電壓、電流、溫度間接推估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500" b="0" i="0">
                <a:solidFill>
                  <a:srgbClr val="404040"/>
                </a:solidFill>
                <a:latin typeface="Microsoft JhengHei"/>
              </a:rPr>
              <a:t>電池為高度非線性、時變、具極化與遲滯之電化學系統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500" b="0" i="0">
                <a:solidFill>
                  <a:srgbClr val="404040"/>
                </a:solidFill>
                <a:latin typeface="Microsoft JhengHei"/>
              </a:rPr>
              <a:t>同一端電壓在不同電流/溫度/老化下對應截然不同的真實 SOC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500" b="0" i="0">
                <a:solidFill>
                  <a:srgbClr val="C03A2B"/>
                </a:solidFill>
                <a:latin typeface="Microsoft JhengHei"/>
              </a:rPr>
              <a:t>估測失準 → 續航誤判、容量浪費、誤觸或喪失保護</a:t>
            </a:r>
          </a:p>
        </p:txBody>
      </p:sp>
      <p:sp>
        <p:nvSpPr>
          <p:cNvPr id="8" name="Rectangle 7"/>
          <p:cNvSpPr/>
          <p:nvPr/>
        </p:nvSpPr>
        <p:spPr>
          <a:xfrm>
            <a:off x="7543800" y="1325880"/>
            <a:ext cx="4160520" cy="210312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325880"/>
            <a:ext cx="82296" cy="21031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4968" y="1435608"/>
            <a:ext cx="3840480" cy="1920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F3864"/>
                </a:solidFill>
                <a:latin typeface="Microsoft JhengHei"/>
              </a:rPr>
              <a:t>核心難點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端電壓被歐姆壓降與極化「污染」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Vt = Voc(SOC) − I·R₀ − Vpol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需藉電池模型把端電壓「還原」成 SOC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3657600"/>
            <a:ext cx="4160520" cy="2286000"/>
          </a:xfrm>
          <a:prstGeom prst="rect">
            <a:avLst/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3657600"/>
            <a:ext cx="82296" cy="2286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3767328"/>
            <a:ext cx="3840480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C08A2B"/>
                </a:solidFill>
                <a:latin typeface="Microsoft JhengHei"/>
              </a:rPr>
              <a:t>研究範圍界定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本研究聚焦 SOC 估測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SOH 列為未來工作（第六章）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單顆 NMC 2000 mAh、室溫、不做溫補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一、研究動機</a:t>
            </a:r>
          </a:p>
          <a:p>
            <a:r>
              <a:rPr sz="1300" b="0" i="0">
                <a:solidFill>
                  <a:srgbClr val="DEEBF7"/>
                </a:solidFill>
                <a:latin typeface="Microsoft JhengHei"/>
              </a:rPr>
              <a:t>現有的比較研究，有兩個地方說不清楚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研究動機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3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486400" cy="4480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86400" cy="6400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21208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Microsoft JhengHei"/>
              </a:rPr>
              <a:t>缺口 ①　在電腦上比，不代表晶片上能用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5029200" cy="3566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500" b="0" i="0">
                <a:solidFill>
                  <a:srgbClr val="404040"/>
                </a:solidFill>
                <a:latin typeface="Microsoft JhengHei"/>
              </a:rPr>
              <a:t>大多數研究都在電腦／MATLAB 上比，只看「準不準」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500" b="0" i="0">
                <a:solidFill>
                  <a:srgbClr val="404040"/>
                </a:solidFill>
                <a:latin typeface="Microsoft JhengHei"/>
              </a:rPr>
              <a:t>可是演算法真正要跑的地方，是很小的微控制器（MCU）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500" b="0" i="0">
                <a:solidFill>
                  <a:srgbClr val="C03A2B"/>
                </a:solidFill>
                <a:latin typeface="Microsoft JhengHei"/>
              </a:rPr>
              <a:t>搬進 MCU 後到底佔多少記憶體、跑多久、變多不準？很少人量過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500" b="0" i="0">
                <a:solidFill>
                  <a:srgbClr val="404040"/>
                </a:solidFill>
                <a:latin typeface="Microsoft JhengHei"/>
              </a:rPr>
              <a:t>連商用電池晶片都選「簡單夠用」的方法、而不是理論最準的 EKF——為什麼？沒人用實測講清楚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5440680" cy="4480560"/>
          </a:xfrm>
          <a:prstGeom prst="rect">
            <a:avLst/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5440680" cy="64008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521208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Microsoft JhengHei"/>
              </a:rPr>
              <a:t>缺口 ②　大家比的基準不一樣，比了不算數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5029200" cy="3566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500" b="0" i="0">
                <a:solidFill>
                  <a:srgbClr val="404040"/>
                </a:solidFill>
                <a:latin typeface="Microsoft JhengHei"/>
              </a:rPr>
              <a:t>各研究用的電池、測法、硬體都不同，數字沒辦法互相比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500" b="0" i="0">
                <a:solidFill>
                  <a:srgbClr val="404040"/>
                </a:solidFill>
                <a:latin typeface="Microsoft JhengHei"/>
              </a:rPr>
              <a:t>動態阻抗法說自己「不用初始值、又快、又適合小晶片」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500" b="0" i="0">
                <a:solidFill>
                  <a:srgbClr val="C03A2B"/>
                </a:solidFill>
                <a:latin typeface="Microsoft JhengHei"/>
              </a:rPr>
              <a:t>但從沒人把它和 EKF 放在同一顆電池、同一套測法、同一顆晶片上公平比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500" b="0" i="0">
                <a:solidFill>
                  <a:srgbClr val="404040"/>
                </a:solidFill>
                <a:latin typeface="Microsoft JhengHei"/>
              </a:rPr>
              <a:t>結果工程師要選方法時，找不到可以信的依據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二、研究目的與貢獻</a:t>
            </a:r>
          </a:p>
          <a:p>
            <a:r>
              <a:rPr sz="1300" b="0" i="0">
                <a:solidFill>
                  <a:srgbClr val="DEEBF7"/>
                </a:solidFill>
                <a:latin typeface="Microsoft JhengHei"/>
              </a:rPr>
              <a:t>建立「同電池・同測試協定・同 MCU」的公平比較平台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研究目的與貢獻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4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Microsoft JhengHei"/>
              </a:rPr>
              <a:t>目的：在資源受限的嵌入式環境下，對庫倫計數、EKF、動態阻抗三種代表性方法，於同一電池、同一協定、同一 MCU 上做精度與資源的公平量化比較，並歸納方法選用建議。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40280"/>
            <a:ext cx="363016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3630168" cy="8686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286000"/>
            <a:ext cx="32918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icrosoft JhengHei"/>
              </a:rPr>
              <a:t>貢獻 ①</a:t>
            </a:r>
          </a:p>
          <a:p>
            <a:r>
              <a:rPr sz="1600" b="1" i="0">
                <a:solidFill>
                  <a:srgbClr val="FFFFFF"/>
                </a:solidFill>
                <a:latin typeface="Microsoft JhengHei"/>
              </a:rPr>
              <a:t>讓公平比較成立的量測方法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3291840" cy="2560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04040"/>
                </a:solidFill>
                <a:latin typeface="Microsoft JhengHei"/>
              </a:rPr>
              <a:t>不只是搭硬體，而是建立「能當真值」的量測基礎：INA226 校正到 &lt; 1‰，庫倫計數才夠格當基準真值；一套協定同時產出倍率容量與動態阻抗擾動（動態阻抗免做額外實驗）；跨輪自動化，再現性實測 CV &lt; 0.52%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5383" y="2240280"/>
            <a:ext cx="363016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15383" y="2240280"/>
            <a:ext cx="3630168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5" y="2286000"/>
            <a:ext cx="32918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icrosoft JhengHei"/>
              </a:rPr>
              <a:t>貢獻 ②</a:t>
            </a:r>
          </a:p>
          <a:p>
            <a:r>
              <a:rPr sz="1600" b="1" i="0">
                <a:solidFill>
                  <a:srgbClr val="FFFFFF"/>
                </a:solidFill>
                <a:latin typeface="Microsoft JhengHei"/>
              </a:rPr>
              <a:t>三方法統一嵌入式實作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3246120"/>
            <a:ext cx="3291840" cy="2560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04040"/>
                </a:solidFill>
                <a:latin typeface="Microsoft JhengHei"/>
              </a:rPr>
              <a:t>把庫倫計數、EKF、動態阻抗放在同一套韌體骨架上、只替換最核心的估測模組，讓三法在「完全相同的環境」下運行——這是公平比較的前提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7847" y="2240280"/>
            <a:ext cx="363016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0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27847" y="2240280"/>
            <a:ext cx="3630168" cy="86868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39" y="2286000"/>
            <a:ext cx="32918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icrosoft JhengHei"/>
              </a:rPr>
              <a:t>貢獻 ③</a:t>
            </a:r>
          </a:p>
          <a:p>
            <a:r>
              <a:rPr sz="1600" b="1" i="0">
                <a:solidFill>
                  <a:srgbClr val="FFFFFF"/>
                </a:solidFill>
                <a:latin typeface="Microsoft JhengHei"/>
              </a:rPr>
              <a:t>首次同硬體公平基準＋決策表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3246120"/>
            <a:ext cx="3291840" cy="2560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04040"/>
                </a:solidFill>
                <a:latin typeface="Microsoft JhengHei"/>
              </a:rPr>
              <a:t>首次把三法放在同電池、同協定、同晶片上，不只量精度、也量資源（Flash/RAM/CPU），把文獻裡「EKF 準但重、庫倫輕但會漂」這種定性印象，變成可重現的對照表與方法選用決策表 ★ 核心貢獻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三、文獻回顧</a:t>
            </a:r>
          </a:p>
          <a:p>
            <a:r>
              <a:rPr sz="1300" b="0" i="0">
                <a:solidFill>
                  <a:srgbClr val="DEEBF7"/>
                </a:solidFill>
                <a:latin typeface="Microsoft JhengHei"/>
              </a:rPr>
              <a:t>等效電路模型（ECM）與 SOC 估測方法分類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文獻回顧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5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285" y="1242060"/>
            <a:ext cx="3890069" cy="4373880"/>
          </a:xfrm>
          <a:prstGeom prst="rect">
            <a:avLst/>
          </a:prstGeom>
          <a:solidFill>
            <a:srgbClr val="FFFFFF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85" y="1280160"/>
            <a:ext cx="3813869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4206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Microsoft JhengHei"/>
              </a:rPr>
              <a:t>圖 2-1　三種等效電路模型：內阻 / 一階 RC / 二階 RC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37760" y="1371600"/>
          <a:ext cx="676655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416"/>
                <a:gridCol w="811987"/>
                <a:gridCol w="1804416"/>
                <a:gridCol w="23457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模型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狀態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暫態描述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嵌入式適用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內阻 Rint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僅歐姆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極佳，動態誤差大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戴維寧 1-RC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單一時間常數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佳，精度/成本平衡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二階 2-RC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快慢雙常數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中，精度高成本高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937760" y="3063240"/>
            <a:ext cx="6812280" cy="3108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600" b="1" i="0">
                <a:solidFill>
                  <a:srgbClr val="1F3864"/>
                </a:solidFill>
                <a:latin typeface="Microsoft JhengHei"/>
              </a:rPr>
              <a:t>SOC 估測方法兩大類：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400" b="0" i="0">
                <a:solidFill>
                  <a:srgbClr val="404040"/>
                </a:solidFill>
                <a:latin typeface="Microsoft JhengHei"/>
              </a:rPr>
              <a:t>直接計量法：庫倫計數、OCV 查表</a:t>
            </a:r>
          </a:p>
          <a:p>
            <a:pPr lvl="1"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400" b="0" i="0">
                <a:solidFill>
                  <a:srgbClr val="404040"/>
                </a:solidFill>
                <a:latin typeface="Microsoft JhengHei"/>
              </a:rPr>
              <a:t>模型基礎法：卡爾曼濾波族（KF/EKF/UKF）、動態阻抗法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400" b="0" i="0">
                <a:solidFill>
                  <a:srgbClr val="404040"/>
                </a:solidFill>
                <a:latin typeface="Microsoft JhengHei"/>
              </a:rPr>
              <a:t>本文 EKF 採一階 RC：狀態維度低、參數辨識易，於單顆 NMC、室溫下足以支撐合理端電壓重建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400" b="0" i="0">
                <a:solidFill>
                  <a:srgbClr val="C03A2B"/>
                </a:solidFill>
                <a:latin typeface="Microsoft JhengHei"/>
              </a:rPr>
              <a:t>商用 BMS IC（bq2x、ModelGauge）多採「庫倫＋OCV 週期修正」而非 EKF —— 正是 Flash/RAM/算力/成本的工程權衡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三、本文方法選擇依據</a:t>
            </a:r>
          </a:p>
          <a:p>
            <a:r>
              <a:rPr sz="1300" b="0" i="0">
                <a:solidFill>
                  <a:srgbClr val="DEEBF7"/>
                </a:solidFill>
                <a:latin typeface="Microsoft JhengHei"/>
              </a:rPr>
              <a:t>為何選庫倫計數、EKF、動態阻抗三者？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方法選擇依據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6 / 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20139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537"/>
                <a:gridCol w="1233181"/>
                <a:gridCol w="1335946"/>
                <a:gridCol w="6679733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方法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是否實作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選擇／排除依據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庫倫計數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✓ 實作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直接計量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必備 baseline，兼任三方法比較之 ground truth（基準真值）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OCV 查表（獨立）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✗ 排除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直接計量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需長時間靜置，與 rate-capability 協定相斥；改以 GITT 表供 EKF 用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EKF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✓ 實作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模型基礎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工業事實標準；可自初值錯誤收斂；以 GITT OCV 表為觀測方程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動態阻抗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✓ 實作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模型基礎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本研究主要方法；無須初值、即時可算、嵌入式友善；複用既有 dV/dI 擾動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434840"/>
            <a:ext cx="1115568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700" b="1" i="0">
                <a:solidFill>
                  <a:srgbClr val="1F3864"/>
                </a:solidFill>
                <a:latin typeface="Microsoft JhengHei"/>
              </a:rPr>
              <a:t>三者恰落在「精度─資源」權衡曲線的不同位置：</a:t>
            </a:r>
          </a:p>
          <a:p>
            <a:pPr lvl="1"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600" b="0" i="0">
                <a:solidFill>
                  <a:srgbClr val="2E7D32"/>
                </a:solidFill>
                <a:latin typeface="Microsoft JhengHei"/>
              </a:rPr>
              <a:t>庫倫計數 → 基準與真值（資源下界）</a:t>
            </a:r>
          </a:p>
          <a:p>
            <a:pPr lvl="1"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600" b="0" i="0">
                <a:solidFill>
                  <a:srgbClr val="2E74B5"/>
                </a:solidFill>
                <a:latin typeface="Microsoft JhengHei"/>
              </a:rPr>
              <a:t>EKF → 模型基礎之精度上界代表（資源代價最高）</a:t>
            </a:r>
          </a:p>
          <a:p>
            <a:pPr lvl="1"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600" b="0" i="0">
                <a:solidFill>
                  <a:srgbClr val="C08A2B"/>
                </a:solidFill>
                <a:latin typeface="Microsoft JhengHei"/>
              </a:rPr>
              <a:t>動態阻抗 → 嵌入式輕量化代表（無須初值、實驗成本低）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四、測試平台系統架構</a:t>
            </a:r>
          </a:p>
          <a:p>
            <a:r>
              <a:rPr sz="1300" b="0" i="0">
                <a:solidFill>
                  <a:srgbClr val="DEEBF7"/>
                </a:solidFill>
                <a:latin typeface="Microsoft JhengHei"/>
              </a:rPr>
              <a:t>雙重角色：電池激勵/真值量測平台　＋　嵌入式估測標的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測試平台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7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854685" y="1242060"/>
            <a:ext cx="5788710" cy="4373880"/>
          </a:xfrm>
          <a:prstGeom prst="rect">
            <a:avLst/>
          </a:prstGeom>
          <a:solidFill>
            <a:srgbClr val="FFFFFF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85" y="1280160"/>
            <a:ext cx="571251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577840"/>
            <a:ext cx="67665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Microsoft JhengHei"/>
              </a:rPr>
              <a:t>圖 3-1　測試平台系統架構（上位機經序列埠驅動電源/負載，INA226 經 10 mΩ shunt 量測）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06640" y="1417320"/>
          <a:ext cx="4297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</a:tblGrid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組成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型號／規格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微控制器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STM32G071RB，64 MHz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量測前端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INA226，10 mΩ shunt，I²C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直流電源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ITECH IT6302（CC-CV）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電子負載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IT8512A+（CC 模式）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上位機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Python orchestrator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受測電池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NMC 2000 mAh，4.2/2.5 V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406640" y="4892040"/>
            <a:ext cx="4297680" cy="141732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4892040"/>
            <a:ext cx="82296" cy="14173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7808" y="5001768"/>
            <a:ext cx="3977640" cy="1234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F3864"/>
                </a:solidFill>
                <a:latin typeface="Microsoft JhengHei"/>
              </a:rPr>
              <a:t>公平比較的基礎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同一顆 DUT、同一條量測迴路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儀錶真值 vs MCU 估測逐點對齊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Kelvin 四線、單點共地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四、韌體骨架（方塊圖）</a:t>
            </a:r>
          </a:p>
          <a:p>
            <a:r>
              <a:rPr sz="1300" b="0" i="0">
                <a:solidFill>
                  <a:srgbClr val="DEEBF7"/>
                </a:solidFill>
                <a:latin typeface="Microsoft JhengHei"/>
              </a:rPr>
              <a:t>固定節拍 → once/loop 主架構 → 模組化資料流；三法只替換最核心的 SOC 估測模組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韌體骨架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5788152" cy="566928"/>
          </a:xfrm>
          <a:prstGeom prst="roundRect">
            <a:avLst/>
          </a:prstGeom>
          <a:solidFill>
            <a:srgbClr val="1F3864"/>
          </a:solidFill>
          <a:ln w="15875">
            <a:solidFill>
              <a:srgbClr val="C0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</a:rPr>
              <a:t>100 µs 系統節拍（硬體計時器）</a:t>
            </a:r>
          </a:p>
          <a:p>
            <a:pPr algn="ctr"/>
            <a:r>
              <a:rPr sz="1050" b="0" i="0">
                <a:solidFill>
                  <a:srgbClr val="404040"/>
                </a:solidFill>
                <a:latin typeface="Microsoft JhengHei"/>
              </a:rPr>
              <a:t>全系統共同時間基準；節拍只計數，累計到 1 s 觸發週期事件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43600" y="1993392"/>
            <a:ext cx="310896" cy="384048"/>
          </a:xfrm>
          <a:prstGeom prst="downArrow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31720" y="2450592"/>
            <a:ext cx="3291840" cy="841248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400" b="1" i="0">
                <a:solidFill>
                  <a:srgbClr val="1F3864"/>
                </a:solidFill>
                <a:latin typeface="Microsoft JhengHei"/>
              </a:rPr>
              <a:t>once()　開機初始化一次</a:t>
            </a:r>
          </a:p>
          <a:p>
            <a:pPr algn="ctr"/>
            <a:r>
              <a:rPr sz="1050" b="0" i="0">
                <a:solidFill>
                  <a:srgbClr val="404040"/>
                </a:solidFill>
                <a:latin typeface="Microsoft JhengHei"/>
              </a:rPr>
              <a:t>通訊埠 / INA226 / 校正資料載入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15000" y="2697480"/>
            <a:ext cx="566928" cy="347472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2450592"/>
            <a:ext cx="3291840" cy="841248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400" b="1" i="0">
                <a:solidFill>
                  <a:srgbClr val="1F3864"/>
                </a:solidFill>
                <a:latin typeface="Microsoft JhengHei"/>
              </a:rPr>
              <a:t>loop()　主迴圈反覆執行</a:t>
            </a:r>
          </a:p>
          <a:p>
            <a:pPr algn="ctr"/>
            <a:r>
              <a:rPr sz="1050" b="0" i="0">
                <a:solidFill>
                  <a:srgbClr val="404040"/>
                </a:solidFill>
                <a:latin typeface="Microsoft JhengHei"/>
              </a:rPr>
              <a:t>依節拍分派週期事件；感測器缺席仍續行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43600" y="3346704"/>
            <a:ext cx="310896" cy="384048"/>
          </a:xfrm>
          <a:prstGeom prst="down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12463"/>
            <a:ext cx="11201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Microsoft JhengHei"/>
              </a:rPr>
              <a:t>模組化資料流（task / flow / process 三層狀態機，低耦合、可獨立替換）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69080"/>
            <a:ext cx="1591056" cy="960120"/>
          </a:xfrm>
          <a:prstGeom prst="roundRect">
            <a:avLst/>
          </a:prstGeom>
          <a:solidFill>
            <a:srgbClr val="ECECEC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400" b="1" i="0">
                <a:solidFill>
                  <a:srgbClr val="1F3864"/>
                </a:solidFill>
                <a:latin typeface="Microsoft JhengHei"/>
              </a:rPr>
              <a:t>INA226</a:t>
            </a:r>
          </a:p>
          <a:p>
            <a:pPr algn="ctr"/>
            <a:r>
              <a:rPr sz="1100" b="0" i="0">
                <a:solidFill>
                  <a:srgbClr val="404040"/>
                </a:solidFill>
                <a:latin typeface="Microsoft JhengHei"/>
              </a:rPr>
              <a:t>量測前端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167127" y="4402836"/>
            <a:ext cx="274320" cy="292608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50592" y="4069080"/>
            <a:ext cx="1591056" cy="96012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400" b="1" i="0">
                <a:solidFill>
                  <a:srgbClr val="1F3864"/>
                </a:solidFill>
                <a:latin typeface="Microsoft JhengHei"/>
              </a:rPr>
              <a:t>量測匯流排</a:t>
            </a:r>
          </a:p>
          <a:p>
            <a:pPr algn="ctr"/>
            <a:r>
              <a:rPr sz="1100" b="0" i="0">
                <a:solidFill>
                  <a:srgbClr val="404040"/>
                </a:solidFill>
                <a:latin typeface="Microsoft JhengHei"/>
              </a:rPr>
              <a:t>I²C 讀寫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50791" y="4402836"/>
            <a:ext cx="274320" cy="292608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34256" y="4069080"/>
            <a:ext cx="1591056" cy="96012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400" b="1" i="0">
                <a:solidFill>
                  <a:srgbClr val="1F3864"/>
                </a:solidFill>
                <a:latin typeface="Microsoft JhengHei"/>
              </a:rPr>
              <a:t>電池量測</a:t>
            </a:r>
          </a:p>
          <a:p>
            <a:pPr algn="ctr"/>
            <a:r>
              <a:rPr sz="1100" b="0" i="0">
                <a:solidFill>
                  <a:srgbClr val="404040"/>
                </a:solidFill>
                <a:latin typeface="Microsoft JhengHei"/>
              </a:rPr>
              <a:t>V / I / P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34456" y="4402836"/>
            <a:ext cx="274320" cy="292608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4069080"/>
            <a:ext cx="1591056" cy="96012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400" b="1" i="0">
                <a:solidFill>
                  <a:srgbClr val="1F3864"/>
                </a:solidFill>
                <a:latin typeface="Microsoft JhengHei"/>
              </a:rPr>
              <a:t>校正套用</a:t>
            </a:r>
          </a:p>
          <a:p>
            <a:pPr algn="ctr"/>
            <a:r>
              <a:rPr sz="1100" b="0" i="0">
                <a:solidFill>
                  <a:srgbClr val="404040"/>
                </a:solidFill>
                <a:latin typeface="Microsoft JhengHei"/>
              </a:rPr>
              <a:t>14 點 LUT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18119" y="4402836"/>
            <a:ext cx="274320" cy="292608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3" y="4069080"/>
            <a:ext cx="1591056" cy="960120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400" b="1" i="0">
                <a:solidFill>
                  <a:srgbClr val="2E7D32"/>
                </a:solidFill>
                <a:latin typeface="Microsoft JhengHei"/>
              </a:rPr>
              <a:t>SOC 估測 ★</a:t>
            </a:r>
          </a:p>
          <a:p>
            <a:pPr algn="ctr"/>
            <a:r>
              <a:rPr sz="1100" b="0" i="0">
                <a:solidFill>
                  <a:srgbClr val="404040"/>
                </a:solidFill>
                <a:latin typeface="Microsoft JhengHei"/>
              </a:rPr>
              <a:t>三法共同掛載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701784" y="4402836"/>
            <a:ext cx="274320" cy="292608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85248" y="4069080"/>
            <a:ext cx="1591056" cy="960120"/>
          </a:xfrm>
          <a:prstGeom prst="roundRect">
            <a:avLst/>
          </a:prstGeom>
          <a:solidFill>
            <a:srgbClr val="1F3864"/>
          </a:solidFill>
          <a:ln w="15875">
            <a:solidFill>
              <a:srgbClr val="C0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每秒狀態回報</a:t>
            </a:r>
          </a:p>
          <a:p>
            <a:pPr algn="ctr"/>
            <a:r>
              <a:rPr sz="1100" b="0" i="0">
                <a:solidFill>
                  <a:srgbClr val="404040"/>
                </a:solidFill>
                <a:latin typeface="Microsoft JhengHei"/>
              </a:rPr>
              <a:t>→ 上位機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285232"/>
            <a:ext cx="11201400" cy="102412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285232"/>
            <a:ext cx="82296" cy="10241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5394960"/>
            <a:ext cx="10881360" cy="8412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F3864"/>
                </a:solidFill>
                <a:latin typeface="Microsoft JhengHei"/>
              </a:rPr>
              <a:t>設計要點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三法共讀同一筆校正後量測（共用前端）→ 杜絕「不同方法吃到不同量測」的不公平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估測核心可獨立開關替換；除錯通訊每秒輸出一行狀態供上位機即時監看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四、INA226 多點線性內插校正</a:t>
            </a:r>
          </a:p>
          <a:p>
            <a:r>
              <a:rPr sz="1300" b="0" i="0">
                <a:solidFill>
                  <a:srgbClr val="DEEBF7"/>
                </a:solidFill>
                <a:latin typeface="Microsoft JhengHei"/>
              </a:rPr>
              <a:t>電流精度是整個平台的根 — 所有 SOC 方法都以電流積分為基礎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量測校正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9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120640" cy="4754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600" b="1" i="0">
                <a:solidFill>
                  <a:srgbClr val="C03A2B"/>
                </a:solidFill>
                <a:latin typeface="Microsoft JhengHei"/>
              </a:rPr>
              <a:t>校正前：電流系統性偏高約 15.8%</a:t>
            </a:r>
          </a:p>
          <a:p>
            <a:pPr lvl="1"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400" b="0" i="0">
                <a:solidFill>
                  <a:srgbClr val="404040"/>
                </a:solidFill>
                <a:latin typeface="Microsoft JhengHei"/>
              </a:rPr>
              <a:t>200 mA 讀為 230.4 mA；主因 shunt 實阻偏離標稱 10 mΩ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600" b="1" i="0">
                <a:solidFill>
                  <a:srgbClr val="1F3864"/>
                </a:solidFill>
                <a:latin typeface="Microsoft JhengHei"/>
              </a:rPr>
              <a:t>校正設計：分方向各 7 點、共 14 點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400" b="0" i="0">
                <a:solidFill>
                  <a:srgbClr val="404040"/>
                </a:solidFill>
                <a:latin typeface="Microsoft JhengHei"/>
              </a:rPr>
              <a:t>電流點 0 / 0.05 / 0.1 / 0.5 / 1.0 / 1.5 / 2.0 A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400" b="0" i="0">
                <a:solidFill>
                  <a:srgbClr val="404040"/>
                </a:solidFill>
                <a:latin typeface="Microsoft JhengHei"/>
              </a:rPr>
              <a:t>兼顧低電流 offset 區與高電流線性區</a:t>
            </a:r>
          </a:p>
          <a:p>
            <a:pPr lvl="1"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400" b="0" i="0">
                <a:solidFill>
                  <a:srgbClr val="404040"/>
                </a:solidFill>
                <a:latin typeface="Microsoft JhengHei"/>
              </a:rPr>
              <a:t>分段線性內插（非多項式），燒入 MCU flash 開機自動載入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600" b="1" i="0">
                <a:solidFill>
                  <a:srgbClr val="2E7D32"/>
                </a:solidFill>
                <a:latin typeface="Microsoft JhengHei"/>
              </a:rPr>
              <a:t>校正後全範圍誤差 &lt; 0.21 mA（&lt; 1‰）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400" b="0" i="0">
                <a:solidFill>
                  <a:srgbClr val="404040"/>
                </a:solidFill>
                <a:latin typeface="Microsoft JhengHei"/>
              </a:rPr>
              <a:t>1.75 A 僅 0.012%，優於 datasheet ±0.1%（不含 shunt 容差）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0" y="1554480"/>
          <a:ext cx="585215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4697"/>
                <a:gridCol w="1207588"/>
                <a:gridCol w="1207588"/>
                <a:gridCol w="1207588"/>
                <a:gridCol w="1114697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目標(A)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真值(mA)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原始(mA)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預測(mA)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誤差(mA)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0.300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298.31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340.20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298.10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−0.21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0.750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748.78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851.32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748.56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−0.21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1.250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1248.46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1418.52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1248.29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−0.17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1.750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1748.61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1986.30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1748.44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−0.16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52160" y="3886200"/>
            <a:ext cx="58521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Microsoft JhengHei"/>
              </a:rPr>
              <a:t>表 3-3　LUT 內插驗證（4 個未列入校正表的獨立電流點）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4343400"/>
            <a:ext cx="5852160" cy="17373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434340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53328" y="4453128"/>
            <a:ext cx="553212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F3864"/>
                </a:solidFill>
                <a:latin typeface="Microsoft JhengHei"/>
              </a:rPr>
              <a:t>校正觀察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充放電同電流點比值一致到小數第三位 → shunt 對方向無偏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高電流區比值收斂 0.880 → shunt 實阻 ≈ 11.36 mΩ（+13.6%）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四、跨輪自動化測試協定</a:t>
            </a:r>
          </a:p>
          <a:p>
            <a:r>
              <a:rPr sz="1300" b="0" i="0">
                <a:solidFill>
                  <a:srgbClr val="DEEBF7"/>
                </a:solidFill>
                <a:latin typeface="Microsoft JhengHei"/>
              </a:rPr>
              <a:t>一輪 = 四組「充電→休息→放電→休息」，約 16–18 小時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測試協定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10 / 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2013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26"/>
                <a:gridCol w="6160770"/>
                <a:gridCol w="1568195"/>
                <a:gridCol w="2464308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組別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流程（充電固定 0.5C）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放電倍率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目的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充飽 → 休 30 分 → 放電至截止 → 休 30 分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0.5C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基準放電曲線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充飽 → 休 30 分 → 放電至截止 → 休 30 分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1.0C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倍率能力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充飽 → 休 30 分 → 放電至截止 → 休 30 分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1.5C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倍率能力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充飽 → 休 30 分 → 放電至截止 → 休 30 分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2.0C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倍率能力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977639"/>
            <a:ext cx="557784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400" b="1" i="0">
                <a:solidFill>
                  <a:srgbClr val="1F3864"/>
                </a:solidFill>
                <a:latin typeface="Microsoft JhengHei"/>
              </a:rPr>
              <a:t>CC-CV 充電終止：V ≥ Vcv 且電流衰減至 0.1C 以下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400" b="1" i="0">
                <a:solidFill>
                  <a:srgbClr val="1F3864"/>
                </a:solidFill>
                <a:latin typeface="Microsoft JhengHei"/>
              </a:rPr>
              <a:t>放電中注入 dV/dI 擾動：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300" b="0" i="0">
                <a:solidFill>
                  <a:srgbClr val="404040"/>
                </a:solidFill>
                <a:latin typeface="Microsoft JhengHei"/>
              </a:rPr>
              <a:t>每 60 s 步降至 0.2C、dwell 1 s，取前後穩態算 ΔV/ΔI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300" b="0" i="0">
                <a:solidFill>
                  <a:srgbClr val="404040"/>
                </a:solidFill>
                <a:latin typeface="Microsoft JhengHei"/>
              </a:rPr>
              <a:t>直接服務動態阻抗法；庫倫涵蓋擾動秒數，避免約 3% 低估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977639"/>
            <a:ext cx="5440680" cy="233172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3977639"/>
            <a:ext cx="82296" cy="2331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4087367"/>
            <a:ext cx="512064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F3864"/>
                </a:solidFill>
                <a:latin typeface="Microsoft JhengHei"/>
              </a:rPr>
              <a:t>持久化與品質閘門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cycle_log.csv 跨輪持久化：cycle_id / round_id / 容量保持率 / 累積 Ah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跨次執行自動續接 round_id，無縫累積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三輪 fresh-cell baseline 作為資料品質閘門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五、庫倫計數法（兼基準真值）</a:t>
            </a:r>
          </a:p>
          <a:p>
            <a:r>
              <a:rPr sz="1300" b="0" i="0">
                <a:solidFill>
                  <a:srgbClr val="DEEBF7"/>
                </a:solidFill>
                <a:latin typeface="Microsoft JhengHei"/>
              </a:rPr>
              <a:t>原理 → 演算法 → 嵌入式實作 → 實驗結果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方法一：庫倫計數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11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291496"/>
            <a:ext cx="3459480" cy="4183567"/>
          </a:xfrm>
          <a:prstGeom prst="rect">
            <a:avLst/>
          </a:prstGeom>
          <a:solidFill>
            <a:srgbClr val="FFFFFF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9596"/>
            <a:ext cx="3383280" cy="41073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532120"/>
            <a:ext cx="3383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Microsoft JhengHei"/>
              </a:rPr>
              <a:t>圖 4-1　庫倫計數 SOC 更新流程（每秒一次）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280160"/>
            <a:ext cx="758952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600" b="1" i="0">
                <a:solidFill>
                  <a:srgbClr val="1F3864"/>
                </a:solidFill>
                <a:latin typeface="Microsoft JhengHei"/>
              </a:rPr>
              <a:t>原理：對電流積分累計電量變化</a:t>
            </a:r>
          </a:p>
          <a:p>
            <a:pPr lvl="1"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500" b="0" i="0">
                <a:solidFill>
                  <a:srgbClr val="404040"/>
                </a:solidFill>
                <a:latin typeface="Times New Roman"/>
              </a:rPr>
              <a:t>SOC(t) = SOC(t₀) − (1/C_rated) ∫ I(τ) dτ　（放電為正）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500" b="0" i="0">
                <a:solidFill>
                  <a:srgbClr val="404040"/>
                </a:solidFill>
                <a:latin typeface="Microsoft JhengHei"/>
              </a:rPr>
              <a:t>嵌入式實作：三法中最輕量 — 每秒一乘一加，無查表、無矩陣 → 資源下界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3200400"/>
            <a:ext cx="7589520" cy="1691640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3200400"/>
            <a:ext cx="82296" cy="169164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3310128"/>
            <a:ext cx="7269480" cy="1508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2E7D32"/>
                </a:solidFill>
                <a:latin typeface="Microsoft JhengHei"/>
              </a:rPr>
              <a:t>為什麼它能當「標準答案」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它只靠電流加總算出來，不靠電池模型，不會因為模型不準而出錯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電流已經校到誤差小於千分之一，加總的底子很可靠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每次放電都用「這次實際放出的總電量」當刻度：充滿算 100%、放到底算 0%，頭尾都對得準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5029200"/>
            <a:ext cx="7589520" cy="137160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5029200"/>
            <a:ext cx="82296" cy="13716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5138928"/>
            <a:ext cx="72694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C03A2B"/>
                </a:solidFill>
                <a:latin typeface="Microsoft JhengHei"/>
              </a:rPr>
              <a:t>它單獨用會有的三個問題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一開始要先知道現在大概幾 %；如果一開始就猜錯，之後會一直錯下去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電流量測只要有一點點固定偏差，一直加總就會越積越大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電池會老化、能裝的電變少，用固定容量去算就會偏——而且它自己不會發現、也不會修正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六、rate-capability 實測（庫倫，實測）</a:t>
            </a:r>
          </a:p>
          <a:p>
            <a:r>
              <a:rPr sz="1300" b="0" i="0">
                <a:solidFill>
                  <a:srgbClr val="DEEBF7"/>
                </a:solidFill>
                <a:latin typeface="Microsoft JhengHei"/>
              </a:rPr>
              <a:t>fresh-cell 三輪各倍率放電容量 — ground truth 有效性驗證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實測：容量再現性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12 / 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658367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023"/>
                <a:gridCol w="1453539"/>
                <a:gridCol w="1453539"/>
                <a:gridCol w="1453539"/>
                <a:gridCol w="1368037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倍率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Round 1 (mAh)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Round 2 (mAh)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Round 3 (mAh)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平均保持率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0.5C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1677.6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1661.9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1657.5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~100.0%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1.0C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1651.8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1660.0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1658.7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~99.5%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1.5C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1646.7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1657.4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1655.7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~99.3%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2.0C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1644.9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1652.1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1647.4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~98.9%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840480"/>
            <a:ext cx="6583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Microsoft JhengHei"/>
              </a:rPr>
              <a:t>表 4-1　fresh-cell 三輪各倍率實測放電容量（cycles 1–13）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4389120" cy="2377440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417320"/>
            <a:ext cx="82296" cy="237744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8" y="1527048"/>
            <a:ext cx="406908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2E7D32"/>
                </a:solidFill>
                <a:latin typeface="Microsoft JhengHei"/>
              </a:rPr>
              <a:t>觀察 ①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rate capability 極平坦：0.5C→2.0C 容量僅降約 1%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→ 內阻低、極化小；高倍率端電壓仍接近 OCV，模型失配小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→ 為後續模型方法（EKF/動態阻抗）比較的有利條件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297680"/>
            <a:ext cx="11201400" cy="178308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297680"/>
            <a:ext cx="82296" cy="178308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407408"/>
            <a:ext cx="10881360" cy="160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F3864"/>
                </a:solidFill>
                <a:latin typeface="Microsoft JhengHei"/>
              </a:rPr>
              <a:t>觀察 ②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同倍率跨輪再現性佳（0.5C 三輪 1657–1678 mAh）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佐證測試協定 + INA226 校正之穩定性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此滿放容量即 SOC 真值正規化所用的 q_full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五、擴展卡爾曼濾波器（EKF）</a:t>
            </a:r>
          </a:p>
          <a:p>
            <a:r>
              <a:rPr sz="1300" b="0" i="0">
                <a:solidFill>
                  <a:srgbClr val="DEEBF7"/>
                </a:solidFill>
                <a:latin typeface="Microsoft JhengHei"/>
              </a:rPr>
              <a:t>融合電流積分（預測）與端電壓（更新），可自初值錯誤收斂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方法二：EKF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13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" y="1319038"/>
            <a:ext cx="4008120" cy="4128484"/>
          </a:xfrm>
          <a:prstGeom prst="rect">
            <a:avLst/>
          </a:prstGeom>
          <a:solidFill>
            <a:srgbClr val="FFFFFF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4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7138"/>
            <a:ext cx="3931920" cy="40522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532120"/>
            <a:ext cx="4206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Microsoft JhengHei"/>
              </a:rPr>
              <a:t>圖 4-2　EKF 預測—更新遞迴（一階 RC，狀態 [SOC, V₁]）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280160"/>
            <a:ext cx="694944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600" b="1" i="0">
                <a:solidFill>
                  <a:srgbClr val="1F3864"/>
                </a:solidFill>
                <a:latin typeface="Microsoft JhengHei"/>
              </a:rPr>
              <a:t>狀態空間（一階 RC、狀態二維）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400" b="0" i="0">
                <a:solidFill>
                  <a:srgbClr val="404040"/>
                </a:solidFill>
                <a:latin typeface="Times New Roman"/>
              </a:rPr>
              <a:t>x = [SOC, V₁]ᵀ，輸入 I，輸出 Vt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400" b="0" i="0">
                <a:solidFill>
                  <a:srgbClr val="404040"/>
                </a:solidFill>
                <a:latin typeface="Times New Roman"/>
              </a:rPr>
              <a:t>Vt = Voc(SOC) − I·R₀ − V₁，觀測非線性源自 Voc(SOC)</a:t>
            </a:r>
          </a:p>
          <a:p>
            <a:pPr lvl="1"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400" b="0" i="0">
                <a:solidFill>
                  <a:srgbClr val="404040"/>
                </a:solidFill>
                <a:latin typeface="Microsoft JhengHei"/>
              </a:rPr>
              <a:t>OCV 表由 GITT 實測建立（2026-07-05；20 點 → 平滑成 21 點單調表）；R₀/R₁/τ₁ 由脈衝鬆弛最小平方辨識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500" b="1" i="0">
                <a:solidFill>
                  <a:srgbClr val="2E7D32"/>
                </a:solidFill>
                <a:latin typeface="Microsoft JhengHei"/>
              </a:rPr>
              <a:t>嵌入式關鍵：狀態二維、觀測一維 → 增益只需一次純量除法、免矩陣求逆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3886200"/>
            <a:ext cx="6949440" cy="2331720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3886200"/>
            <a:ext cx="82296" cy="2331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6048" y="3995928"/>
            <a:ext cx="6629400" cy="2148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2E7D32"/>
                </a:solidFill>
                <a:latin typeface="Microsoft JhengHei"/>
              </a:rPr>
              <a:t>實測結果（實測）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PC 重放 RMSE 0.60%；板端整輪四倍率 RMSE 0.22–0.90%（全 &lt;1%）→ 三法最佳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+25% 錯誤初值 → 單步量測更新即拉回（自我修正，庫倫做不到）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MCU 無 FPU → 軟浮點；單次更新 15,187 cycles（237 µs）、Flash +2.3 KB 最大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首輪隨倍率正偏 → 追出量測域錯位（見次頁）→ R₀ 改電池端域後全倍率 &lt;1%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五、動態阻抗法</a:t>
            </a:r>
          </a:p>
          <a:p>
            <a:r>
              <a:rPr sz="1300" b="0" i="0">
                <a:solidFill>
                  <a:srgbClr val="DEEBF7"/>
                </a:solidFill>
                <a:latin typeface="Microsoft JhengHei"/>
              </a:rPr>
              <a:t>以端電壓對電流的瞬時變化率推估 SOC — 無須初值、無須靜置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方法三：動態阻抗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14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588" y="1242060"/>
            <a:ext cx="3216503" cy="4282440"/>
          </a:xfrm>
          <a:prstGeom prst="rect">
            <a:avLst/>
          </a:prstGeom>
          <a:solidFill>
            <a:srgbClr val="FFFFFF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4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88" y="1280160"/>
            <a:ext cx="3140303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532120"/>
            <a:ext cx="33832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Microsoft JhengHei"/>
              </a:rPr>
              <a:t>圖 4-3　離線建表 + 即時估測流程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280160"/>
            <a:ext cx="758952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600" b="1" i="0">
                <a:solidFill>
                  <a:srgbClr val="1F3864"/>
                </a:solidFill>
                <a:latin typeface="Times New Roman"/>
              </a:rPr>
              <a:t>動態阻抗 Z = ΔV / ΔI（相鄰擾動兩點）</a:t>
            </a:r>
          </a:p>
          <a:p>
            <a:pPr lvl="1" algn="l"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500" b="0" i="0">
                <a:solidFill>
                  <a:srgbClr val="404040"/>
                </a:solidFill>
                <a:latin typeface="Times New Roman"/>
              </a:rPr>
              <a:t>關鍵發現：Z 與 SOC 呈拋物線　ΔV/ΔI = a·SOC² + b·SOC + c</a:t>
            </a:r>
          </a:p>
          <a:p>
            <a:pPr lvl="1"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400" b="0" i="0">
                <a:solidFill>
                  <a:srgbClr val="404040"/>
                </a:solidFill>
                <a:latin typeface="Microsoft JhengHei"/>
              </a:rPr>
              <a:t>滿電與放空時阻抗高、SOC≈50% 最小；對稱 → 以斜率正負判分枝取唯一解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400" b="0" i="0">
                <a:solidFill>
                  <a:srgbClr val="404040"/>
                </a:solidFill>
                <a:latin typeface="Microsoft JhengHei"/>
              </a:rPr>
              <a:t>兩階段：離線建表（PC 擬合 a,b,c 存晶片）→ 即時估測（晶片偵測擾動解二次式）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4023360"/>
            <a:ext cx="7589520" cy="2194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4023360"/>
            <a:ext cx="82296" cy="21945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4133088"/>
            <a:ext cx="726948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F3864"/>
                </a:solidFill>
                <a:latin typeface="Microsoft JhengHei"/>
              </a:rPr>
              <a:t>工程優勢與特性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複用 rate-capability 既有 dV/dI 擾動段，無須額外實驗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運算僅差分 + 低階多項式 → 介於庫倫與 EKF 之間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僅擾動事件（每 60 s）產生獨立估測，事件間以庫倫內插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六、動態阻抗實測與量測域發現</a:t>
            </a:r>
          </a:p>
          <a:p>
            <a:r>
              <a:rPr sz="1300" b="0" i="0">
                <a:solidFill>
                  <a:srgbClr val="DEEBF7"/>
                </a:solidFill>
                <a:latin typeface="Microsoft JhengHei"/>
              </a:rPr>
              <a:t>離線可擬合拋物線，但線上單獨反推不可行 — 量測域錯位 + 反問題病態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動態阻抗與量測域發現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15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6417" y="1196340"/>
            <a:ext cx="4347966" cy="2773680"/>
          </a:xfrm>
          <a:prstGeom prst="rect">
            <a:avLst/>
          </a:prstGeom>
          <a:solidFill>
            <a:srgbClr val="FFFFFF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4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17" y="1234440"/>
            <a:ext cx="4271766" cy="2697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931920"/>
            <a:ext cx="5394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Microsoft JhengHei"/>
              </a:rPr>
              <a:t>圖 4-4　|ΔV/ΔI|–SOC 離線擬合（最低點≈53%，離線 oracle RMSE 6–10%）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1711" y="1196340"/>
            <a:ext cx="4490258" cy="2773680"/>
          </a:xfrm>
          <a:prstGeom prst="rect">
            <a:avLst/>
          </a:prstGeom>
          <a:solidFill>
            <a:srgbClr val="FFFFFF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4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811" y="1234440"/>
            <a:ext cx="4414058" cy="2697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3931920"/>
            <a:ext cx="5394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Microsoft JhengHei"/>
              </a:rPr>
              <a:t>圖 4-5　量測域對照：台架負載端 vs 板端電池端子（常數項差約 24 mΩ）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370832"/>
            <a:ext cx="11201400" cy="1938528"/>
          </a:xfrm>
          <a:prstGeom prst="rect">
            <a:avLst/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370832"/>
            <a:ext cx="82296" cy="19385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4480560"/>
            <a:ext cx="10881360" cy="17556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C08A2B"/>
                </a:solidFill>
                <a:latin typeface="Microsoft JhengHei"/>
              </a:rPr>
              <a:t>核心發現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量測域錯位：板端 Z 中位 35 mΩ vs 台架 60 mΩ（差 24 mΩ 線材電阻）→ 台架表移植板端整組失效（RMSE≈28%）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拋物線形狀由電芯決定（不變）、常數項由量測鏈決定（平移 24 mΩ）→ 對照表須與部署端「同域」建立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同域重建後線上仍 23–31%：反問題病態 — 曲線跨度僅 ~6 mΩ、噪聲 σ≈2 mΩ（訊號僅噪聲 3 倍）→ 分枝近隨機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★ 結論：平坦曲線電芯線上單獨反推不可行；僅宜低 SOC 粗校正 + 老化指標 → 正是「評估環境失真」的實測實例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六、三法 SOC 軌跡實測對照</a:t>
            </a:r>
          </a:p>
          <a:p>
            <a:r>
              <a:rPr sz="1300" b="0" i="0">
                <a:solidFill>
                  <a:srgbClr val="DEEBF7"/>
                </a:solidFill>
                <a:latin typeface="Microsoft JhengHei"/>
              </a:rPr>
              <a:t>同一輪四倍率放電，三法軌跡疊繪台架庫倫真值 — 動態阻抗跳動的三種失效型態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三法SOC軌跡對照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16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948146" y="1150620"/>
            <a:ext cx="5190307" cy="4053839"/>
          </a:xfrm>
          <a:prstGeom prst="rect">
            <a:avLst/>
          </a:prstGeom>
          <a:solidFill>
            <a:srgbClr val="FFFFFF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4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246" y="1188720"/>
            <a:ext cx="5114107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230368"/>
            <a:ext cx="62636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Microsoft JhengHei"/>
              </a:rPr>
              <a:t>圖 4-6　儀器庫倫真值 vs 板端庫倫／EKF／動態阻抗（Round 41，各面板標 RMSE）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349240" cy="1170432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143000"/>
            <a:ext cx="82296" cy="11704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252728"/>
            <a:ext cx="5029200" cy="9875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C03A2B"/>
                </a:solidFill>
                <a:latin typeface="Microsoft JhengHei"/>
              </a:rPr>
              <a:t>失效 ①　鏡像跳變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選錯分枝 → 解落到頂點另一側的鏡像位置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真值 90% 時另一根約在 27% → 軌跡瞬間上下對翻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77440"/>
            <a:ext cx="5349240" cy="1353312"/>
          </a:xfrm>
          <a:prstGeom prst="rect">
            <a:avLst/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377440"/>
            <a:ext cx="82296" cy="135331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487168"/>
            <a:ext cx="5029200" cy="11704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C08A2B"/>
                </a:solidFill>
                <a:latin typeface="Microsoft JhengHei"/>
              </a:rPr>
              <a:t>失效 ②　頂點夾限平台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噪聲使 Z 低於曲線最低值 33.4 mΩ → 判別式無實根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只能夾限輸出頂點 58.6%；Round 41 中 111／425 事件（26%）落此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794760"/>
            <a:ext cx="5349240" cy="1170432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794760"/>
            <a:ext cx="82296" cy="11704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3904488"/>
            <a:ext cx="5029200" cy="9875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F3864"/>
                </a:solidFill>
                <a:latin typeface="Microsoft JhengHei"/>
              </a:rPr>
              <a:t>失效 ③　無不確定度加權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每事件獨立重錨、無共變異數機制可降權劣質觀測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單一錯誤解原封保留至下一事件（EKF 靠共變異數避免）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5029200"/>
            <a:ext cx="5349240" cy="1188720"/>
          </a:xfrm>
          <a:prstGeom prst="rect">
            <a:avLst/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5029200"/>
            <a:ext cx="82296" cy="1188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5138928"/>
            <a:ext cx="502920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C08A2B"/>
                </a:solidFill>
                <a:latin typeface="Microsoft JhengHei"/>
              </a:rPr>
              <a:t>為何是方法本質、非感測器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同噪聲抖動：庫倫 0.005%／EKF 0.018%／動態阻抗 53%（差 3–4 級）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→ 病態源自曲線跨度僅噪聲 3 倍，與感測器品質無關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六、三方法公平比較（全實測）</a:t>
            </a:r>
          </a:p>
          <a:p>
            <a:r>
              <a:rPr sz="1300" b="0" i="0">
                <a:solidFill>
                  <a:srgbClr val="DEEBF7"/>
                </a:solidFill>
                <a:latin typeface="Microsoft JhengHei"/>
              </a:rPr>
              <a:t>精度 × 強健性 × 嵌入式資源（同電池・同協定・同 MCU・同量測路徑）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方法比較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17 / 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201397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911"/>
                <a:gridCol w="1883421"/>
                <a:gridCol w="2478185"/>
                <a:gridCol w="2081676"/>
                <a:gridCol w="2379058"/>
                <a:gridCol w="892146"/>
              </a:tblGrid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方法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精度 RMSE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強健性（初值）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Flash / RAM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每次更新 cycles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浮點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庫倫計數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1.7–2.0%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不收斂（充飽重錨）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+1.9 KB / 24 B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305（4.8 µs）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否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EKF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0.22–0.90%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單步拉回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+2.3 KB / 40 B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15,187（237 µs）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是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3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動態阻抗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23–31%（線上）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首事件 ≤60 s 重估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+1.5 KB / 48 B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442 / 6,525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是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703320"/>
            <a:ext cx="11201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Microsoft JhengHei"/>
              </a:rPr>
              <a:t>表 4-4／4-6　三法同硬體實測（庫倫負偏源自電流量測鏈刻度；動態阻抗離線 oracle 上界 6–10%；Round 40–41）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114800"/>
            <a:ext cx="5806440" cy="2194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114800"/>
            <a:ext cx="82296" cy="21945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224528"/>
            <a:ext cx="548640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F3864"/>
                </a:solidFill>
                <a:latin typeface="Microsoft JhengHei"/>
              </a:rPr>
              <a:t>誤差三層次（皆非演算法設計錯誤）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① 感測精度：庫倫負偏 ← 兩電流量測鏈刻度差（約 +1.2%）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② 域一致性：EKF 正偏 / 動態失效 ← 辨識域≠部署域（可消 → 同域後 EKF &lt;1%）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③ 反問題條件數：動態同域仍病態 ← 電芯曲線平坦度（不可消）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4114800"/>
            <a:ext cx="5212080" cy="2194560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4114800"/>
            <a:ext cx="82296" cy="21945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4224528"/>
            <a:ext cx="489204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2E7D32"/>
                </a:solidFill>
                <a:latin typeface="Microsoft JhengHei"/>
              </a:rPr>
              <a:t>資源・即時性・強健性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EKF cycles ≈ 庫倫 50 倍，但折算 237 µs = 每秒預算的 0.024%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→「EKF 太重」在 Cortex-M0+ 上不成立，分水嶺在更低階 MCU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噪聲下：庫倫/EKF 皆穩（庫倫略優）、動態阻抗抖動 ≈53%（分枝翻轉）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七、系統整合與長期再現性（實測）</a:t>
            </a:r>
          </a:p>
          <a:p>
            <a:r>
              <a:rPr sz="1300" b="0" i="0">
                <a:solidFill>
                  <a:srgbClr val="DEEBF7"/>
                </a:solidFill>
                <a:latin typeface="Microsoft JhengHei"/>
              </a:rPr>
              <a:t>三法並行架構　＋　老化訊號與量測噪聲之分離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系統整合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18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21208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600" b="1" i="0">
                <a:solidFill>
                  <a:srgbClr val="1F3864"/>
                </a:solidFill>
                <a:latin typeface="Microsoft JhengHei"/>
              </a:rPr>
              <a:t>三法並行整合策略</a:t>
            </a:r>
          </a:p>
          <a:p>
            <a:pPr lvl="1"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300" b="0" i="0">
                <a:solidFill>
                  <a:srgbClr val="404040"/>
                </a:solidFill>
                <a:latin typeface="Microsoft JhengHei"/>
              </a:rPr>
              <a:t>共用量測前端（同一筆量測，杜絕不公平）</a:t>
            </a:r>
          </a:p>
          <a:p>
            <a:pPr lvl="1"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300" b="0" i="0">
                <a:solidFill>
                  <a:srgbClr val="404040"/>
                </a:solidFill>
                <a:latin typeface="Microsoft JhengHei"/>
              </a:rPr>
              <a:t>分離估測核心（各自獨立狀態、可開關）</a:t>
            </a:r>
          </a:p>
          <a:p>
            <a:pPr lvl="1"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300" b="0" i="0">
                <a:solidFill>
                  <a:srgbClr val="404040"/>
                </a:solidFill>
                <a:latin typeface="Microsoft JhengHei"/>
              </a:rPr>
              <a:t>統一輸出 + 交叉校正掛勾</a:t>
            </a:r>
          </a:p>
          <a:p>
            <a:pPr lvl="1"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300" b="0" i="0">
                <a:solidFill>
                  <a:srgbClr val="2E7D32"/>
                </a:solidFill>
                <a:latin typeface="Microsoft JhengHei"/>
              </a:rPr>
              <a:t>邊際成本可加性 → 並行資源 ≈ 各 footprint 之和</a:t>
            </a:r>
          </a:p>
          <a:p>
            <a:pPr lvl="1"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300" b="0" i="0">
                <a:solidFill>
                  <a:srgbClr val="2E7D32"/>
                </a:solidFill>
                <a:latin typeface="Microsoft JhengHei"/>
              </a:rPr>
              <a:t>五變體實測：並行 +4.9 KB Flash、+112 B RAM（RAM 嚴格可加）</a:t>
            </a:r>
          </a:p>
          <a:p>
            <a:pPr lvl="1"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300" b="0" i="0">
                <a:solidFill>
                  <a:srgbClr val="404040"/>
                </a:solidFill>
                <a:latin typeface="Microsoft JhengHei"/>
              </a:rPr>
              <a:t>即時性：三法並行峰值 344 µs，佔每秒預算 0.034%（餘裕 &gt;3 數量級）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749039"/>
          <a:ext cx="521207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323"/>
                <a:gridCol w="1603716"/>
                <a:gridCol w="1303020"/>
                <a:gridCol w="130302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倍率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平均(mAh)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標準差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CV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0.5C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1665.7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8.64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0.519%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1.0C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1656.8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3.60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0.217%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1.5C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1653.3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4.68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0.283%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2.0C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1648.1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2.96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0.179%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5212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Microsoft JhengHei"/>
              </a:rPr>
              <a:t>表 5-2　fresh-cell 三輪變異性（噪聲下界）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89320" y="1371600"/>
          <a:ext cx="5714998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090"/>
                <a:gridCol w="1350818"/>
                <a:gridCol w="1766454"/>
                <a:gridCol w="1558636"/>
              </a:tblGrid>
              <a:tr h="333102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Round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日期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0.5C 保持率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容量(mAh)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05-12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100.76%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1677.6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11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05-22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99.30%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1653.4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23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06-02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98.27%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1636.3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34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06-14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97.45%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1622.5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  <a:tr h="33310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40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07-07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96.07%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1599.6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333108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41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07-08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96.29%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1603.2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89320" y="3749039"/>
            <a:ext cx="5715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Microsoft JhengHei"/>
              </a:rPr>
              <a:t>表 5-3　0.5C 容量保持率長期趨勢（rounds 1–41）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4160520"/>
            <a:ext cx="5715000" cy="2103120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4160520"/>
            <a:ext cx="82296" cy="21031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4270248"/>
            <a:ext cx="5394960" cy="1920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2E7D32"/>
                </a:solidFill>
                <a:latin typeface="Microsoft JhengHei"/>
              </a:rPr>
              <a:t>老化／噪聲分離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三輪變異 CV &lt; 0.52%（噪聲下界）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41 輪累計衰退約 4.6%（真實老化）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老化 ≈ 9× 噪聲 → 可乾淨分離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→ 支撐「逐 cycle 重錨庫倫真值」之正當性，並為 SOH 延伸提供實證資料集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八、結論：什麼情況該用哪個方法</a:t>
            </a:r>
          </a:p>
          <a:p>
            <a:r>
              <a:rPr sz="1300" b="0" i="0">
                <a:solidFill>
                  <a:srgbClr val="DEEBF7"/>
                </a:solidFill>
                <a:latin typeface="Microsoft JhengHei"/>
              </a:rPr>
              <a:t>一句話：在小晶片上，「要多準」跟「要花多少資源」怎麼取捨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19 / 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20139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336"/>
                <a:gridCol w="2150668"/>
                <a:gridCol w="3315614"/>
                <a:gridCol w="304678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產品是什麼情況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建議用哪個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為什麼（都有實測）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要付出的代價</a:t>
                      </a:r>
                    </a:p>
                  </a:txBody>
                  <a:tcPr marL="63500" marR="50800" marT="25400" marB="25400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晶片很陽春、要省成本（8 位元、無浮點運算、記憶體小）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庫倫計數＋充飽自動歸零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最省資源；充飽時自動抓回 100%（整輪 4 次全中），開機猜錯也救得回來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自己不會修正；能多準由電流量測決定（約 ±2%）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中階晶片；要能從開機錯誤自己回正、長期免校正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EKF（卡爾曼濾波）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四種放電都最準（都在 1% 內）；開機猜錯一步就拉回；只佔算力萬分之 2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要先建一張電壓對照表；最吃記憶體（+2.3 KB）；參數要跟實機同一量測點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電池在工作中、沒空靜置、又想省成本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動態阻抗＋庫倫補內插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不用開機值、不用靜置，一分鐘內就有第一個估計；建表最省事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單獨線上用會亂跳（誤差 23–31%），只能在低電量端做粗略校正</a:t>
                      </a:r>
                    </a:p>
                  </a:txBody>
                  <a:tcPr marL="63500" marR="508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要求高可靠、資源夠、想要整體最好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三個方法一起用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彼此補位；三個同時跑也只佔算力萬分之 3.4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04040"/>
                          </a:solidFill>
                          <a:latin typeface="Microsoft JhengHei"/>
                        </a:rPr>
                        <a:t>整合最複雜；多花約 4.9 KB 記憶體</a:t>
                      </a:r>
                    </a:p>
                  </a:txBody>
                  <a:tcPr marL="63500" marR="50800" marT="25400" marB="25400" anchor="ctr"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343400"/>
            <a:ext cx="11201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Microsoft JhengHei"/>
              </a:rPr>
              <a:t>表 6-1　什麼情況該用哪個方法（每一格的數字都出自同一顆晶片的實測）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773168"/>
            <a:ext cx="11201400" cy="1417320"/>
          </a:xfrm>
          <a:prstGeom prst="rect">
            <a:avLst/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773168"/>
            <a:ext cx="82296" cy="14173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882896"/>
            <a:ext cx="10881360" cy="1234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C08A2B"/>
                </a:solidFill>
                <a:latin typeface="Microsoft JhengHei"/>
              </a:rPr>
              <a:t>兩句話總結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結論一：沒有哪個方法「永遠最好」——選哪個要看你的晶片有多少資源、產品需要什麼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404040"/>
                </a:solidFill>
                <a:latin typeface="Microsoft JhengHei"/>
              </a:rPr>
              <a:t>• 結論二（本研究最想講的）：一個方法準不準，常常不是演算法本身決定的——真正關鍵是「量測準不準」和「調參數時的環境跟實機是不是同一個」，這些造成的誤差比三個演算法彼此的差距還大好幾倍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64008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7498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Microsoft JhengHei"/>
              </a:rPr>
              <a:t>八、研究限制與未來工作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37376"/>
            <a:ext cx="82296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000" b="0" i="0">
                <a:solidFill>
                  <a:srgbClr val="595959"/>
                </a:solidFill>
                <a:latin typeface="Microsoft JhengHei"/>
              </a:rPr>
              <a:t>鋰電池 SOC 估測方法之比較與嵌入式實作　|　未來工作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icrosoft JhengHei"/>
              </a:rPr>
              <a:t>20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86400" cy="429768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5486400" cy="548640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512064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icrosoft JhengHei"/>
              </a:rPr>
              <a:t>這份研究還有哪些限制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074920" cy="3566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400" b="0" i="0">
                <a:solidFill>
                  <a:srgbClr val="404040"/>
                </a:solidFill>
                <a:latin typeface="Microsoft JhengHei"/>
              </a:rPr>
              <a:t>只測了一顆 NMC 電池、室溫、沒做溫度補償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400" b="0" i="0">
                <a:solidFill>
                  <a:srgbClr val="404040"/>
                </a:solidFill>
                <a:latin typeface="Microsoft JhengHei"/>
              </a:rPr>
              <a:t>只做電量（SOC），還沒做健康度（SOH）——但已量到能分辨的老化訊號（41 輪掉約 4.6%）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400" b="0" i="0">
                <a:solidFill>
                  <a:srgbClr val="404040"/>
                </a:solidFill>
                <a:latin typeface="Microsoft JhengHei"/>
              </a:rPr>
              <a:t>這顆電池「大電流也幾乎不掉電量」：對 EKF 有利、對動態阻抗卻是致命傷，結論不能直接套到別顆電池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400" b="0" i="0">
                <a:solidFill>
                  <a:srgbClr val="404040"/>
                </a:solidFill>
                <a:latin typeface="Microsoft JhengHei"/>
              </a:rPr>
              <a:t>EKF 的參數跟電腦驗證用同一份資料（等於自己驗自己）；真正的公正驗證靠兩整輪實機實測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400" b="0" i="0">
                <a:solidFill>
                  <a:srgbClr val="404040"/>
                </a:solidFill>
                <a:latin typeface="Microsoft JhengHei"/>
              </a:rPr>
              <a:t>板端跟儀器兩套電流量測本身差約 1.2%，看絕對精度時要把這個算進去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5440680" cy="4297680"/>
          </a:xfrm>
          <a:prstGeom prst="rect">
            <a:avLst/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544068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25880"/>
            <a:ext cx="512064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icrosoft JhengHei"/>
              </a:rPr>
              <a:t>接下來想做什麼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5029200" cy="3566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500" b="1" i="0">
                <a:solidFill>
                  <a:srgbClr val="1F3864"/>
                </a:solidFill>
                <a:latin typeface="Microsoft JhengHei"/>
              </a:rPr>
              <a:t>接著做電池「健康度」（SOH）</a:t>
            </a:r>
          </a:p>
          <a:p>
            <a:pPr lvl="1"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300" b="0" i="0">
                <a:solidFill>
                  <a:srgbClr val="404040"/>
                </a:solidFill>
                <a:latin typeface="Microsoft JhengHei"/>
              </a:rPr>
              <a:t>追容量衰退、用內阻變化估老化——可以直接沿用現在的量測，成本很低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500" b="1" i="0">
                <a:solidFill>
                  <a:srgbClr val="1F3864"/>
                </a:solidFill>
                <a:latin typeface="Microsoft JhengHei"/>
              </a:rPr>
              <a:t>處理 LFP 電池的電壓遲滯</a:t>
            </a:r>
          </a:p>
          <a:p>
            <a:pPr lvl="1"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300" b="0" i="0">
                <a:solidFill>
                  <a:srgbClr val="404040"/>
                </a:solidFill>
                <a:latin typeface="Microsoft JhengHei"/>
              </a:rPr>
              <a:t>把遲滯放進 EKF；動態阻抗不靠電壓對照表，反而有機會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74B5"/>
                </a:solidFill>
                <a:latin typeface="Microsoft JhengHei"/>
              </a:rPr>
              <a:t>▪ </a:t>
            </a:r>
            <a:r>
              <a:rPr sz="1500" b="1" i="0">
                <a:solidFill>
                  <a:srgbClr val="1F3864"/>
                </a:solidFill>
                <a:latin typeface="Microsoft JhengHei"/>
              </a:rPr>
              <a:t>用 AI 融合，多顆電池上雲端一起學</a:t>
            </a:r>
          </a:p>
          <a:p>
            <a:pPr lvl="1"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icrosoft JhengHei"/>
              </a:rPr>
              <a:t>– </a:t>
            </a:r>
            <a:r>
              <a:rPr sz="1300" b="0" i="0">
                <a:solidFill>
                  <a:srgbClr val="404040"/>
                </a:solidFill>
                <a:latin typeface="Microsoft JhengHei"/>
              </a:rPr>
              <a:t>用輕量神經網路把三個方法的輸出融合；多顆電池的資料回雲端互相校正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06440"/>
            <a:ext cx="1120140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  <a:latin typeface="Microsoft JhengHei"/>
              </a:rPr>
              <a:t>敬請各位口試委員指教　—　謝謝聆聽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