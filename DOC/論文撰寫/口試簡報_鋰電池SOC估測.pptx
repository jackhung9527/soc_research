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286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02920"/>
            <a:ext cx="1033272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800" b="0" i="0">
                <a:solidFill>
                  <a:srgbClr val="DEEBF7"/>
                </a:solidFill>
                <a:latin typeface="Microsoft JhengHei"/>
              </a:rPr>
              <a:t>中原大學　電機工程學系　碩士學位論文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87168"/>
            <a:ext cx="1069848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鋰電池 SOC 估測方法之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46704"/>
            <a:ext cx="1069848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比較與嵌入式實作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10698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500" b="0" i="1">
                <a:solidFill>
                  <a:srgbClr val="DEEBF7"/>
                </a:solidFill>
                <a:latin typeface="Times New Roman"/>
              </a:rPr>
              <a:t>A Comparative Study and Embedded Implementation of SOC Estimation Methods for Li-ion Batteries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1069848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研究生　：</a:t>
            </a:r>
            <a:r>
              <a:rPr sz="1800" b="0" i="0">
                <a:solidFill>
                  <a:srgbClr val="DEEBF7"/>
                </a:solidFill>
                <a:latin typeface="Microsoft JhengHei"/>
              </a:rPr>
              <a:t>[ 研究生姓名 ]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指導教授：</a:t>
            </a:r>
            <a:r>
              <a:rPr sz="1800" b="0" i="0">
                <a:solidFill>
                  <a:srgbClr val="DEEBF7"/>
                </a:solidFill>
                <a:latin typeface="Microsoft JhengHei"/>
              </a:rPr>
              <a:t>[ 指導教授 ] 博士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中華民國　115 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簡報大綱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簡報大綱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 / 20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325880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289304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研究背景與動機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BMS、SOC 角色與兩個研究缺口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952243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15667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研究目的與貢獻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同電池・同協定・同 MCU 的公平比較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578608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542032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文獻回顧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等效電路模型與 SOC 方法分類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204972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168396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測試平台與量測校正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系統架構、韌體骨架、INA226 校正、測試協定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831335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94759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三種 SOC 估測方法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庫倫計數、EKF、動態阻抗 — 原理與實作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457700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421124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實測結果與方法比較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rate-capability、動態阻抗擬合、精度/資源比較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5084064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047488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系統整合與長期再現性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三法並行、老化與噪聲分離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5710428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673852"/>
            <a:ext cx="10058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結論、決策表與未來工作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方法選用建議、SOH 延伸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一、研究背景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BMS 與 SOC 在鋰電池系統中的關鍵角色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676656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800" b="1" i="0">
                <a:solidFill>
                  <a:srgbClr val="1F3864"/>
                </a:solidFill>
                <a:latin typeface="Microsoft JhengHei"/>
              </a:rPr>
              <a:t>鋰離子電池已成為電動車、可攜式裝置與儲能系統的主力儲能元件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0" i="0">
                <a:solidFill>
                  <a:srgbClr val="404040"/>
                </a:solidFill>
                <a:latin typeface="Microsoft JhengHei"/>
              </a:rPr>
              <a:t>電池管理系統（BMS）負責電壓/電流/溫度監控、均衡與保護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0" i="0">
                <a:solidFill>
                  <a:srgbClr val="404040"/>
                </a:solidFill>
                <a:latin typeface="Microsoft JhengHei"/>
              </a:rPr>
              <a:t>SOC（荷電狀態）＝可用電量 ÷ 額定容量，相當於電池的「油量表」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Microsoft JhengHei"/>
              </a:rPr>
              <a:t>SOC 估測的根本困難：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SOC 無法直接量測，只能由端電壓、電流、溫度間接推估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電池為高度非線性、時變、具極化與遲滯之電化學系統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同一端電壓在不同電流/溫度/老化下對應截然不同的真實 SOC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估測失準 → 續航誤判、容量浪費、誤觸或喪失保護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1325880"/>
            <a:ext cx="4160520" cy="21031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325880"/>
            <a:ext cx="82296" cy="21031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44968" y="1435608"/>
            <a:ext cx="3840480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核心難點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端電壓被歐姆壓降與極化「污染」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Vt = Voc(SOC) − I·R₀ − Vpol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需藉電池模型把端電壓「還原」成 SOC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3657600"/>
            <a:ext cx="4160520" cy="228600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43800" y="3657600"/>
            <a:ext cx="82296" cy="2286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4968" y="3767328"/>
            <a:ext cx="3840480" cy="2103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研究範圍界定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本研究聚焦 SOC 估測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SOH 列為未來工作（第六章）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單顆 NMC 2000 mAh、室溫、不做溫補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一、研究動機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現有的比較研究，有兩個地方說不清楚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研究動機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5486400" cy="4480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00" cy="6400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52120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Microsoft JhengHei"/>
              </a:rPr>
              <a:t>缺口 ①　在電腦上比，不代表晶片上能用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5029200" cy="3566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大多數研究都在電腦／MATLAB 上比，只看「準不準」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可是演算法真正要跑的地方，是很小的微控制器（MCU）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搬進 MCU 後到底佔多少記憶體、跑多久、變多不準？很少人量過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連商用電池晶片都選「簡單夠用」的方法、而不是理論最準的 EKF——為什麼？沒人用實測講清楚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440680" cy="448056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440680" cy="6400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52120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Microsoft JhengHei"/>
              </a:rPr>
              <a:t>缺口 ②　大家比的基準不一樣，比了不算數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5029200" cy="3566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各研究用的電池、測法、硬體都不同，數字沒辦法互相比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動態阻抗法說自己「不用初始值、又快、又適合小晶片」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但從沒人把它和 EKF 放在同一顆電池、同一套測法、同一顆晶片上公平比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結果工程師要選方法時，找不到可以信的依據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二、研究目的與貢獻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建立「同電池・同測試協定・同 MCU」的公平比較平台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研究目的與貢獻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Microsoft JhengHei"/>
              </a:rPr>
              <a:t>目的：在資源受限的嵌入式環境下，對庫倫計數、EKF、動態阻抗三種代表性方法，於同一電池、同一協定、同一 MCU 上做精度與資源的公平量化比較，並歸納方法選用建議。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240280"/>
            <a:ext cx="3630168" cy="8686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286000"/>
            <a:ext cx="329184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①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讓公平比較成立的量測方法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3291840" cy="2560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不只是搭硬體，而是建立「能當真值」的量測基礎：INA226 校正到 &lt; 1‰，庫倫計數才夠格當基準真值；一套協定同時產出倍率容量與動態阻抗擾動（動態阻抗免做額外實驗）；跨輪自動化，再現性實測 CV &lt; 0.52%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15383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15383" y="2240280"/>
            <a:ext cx="3630168" cy="8686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9975" y="2286000"/>
            <a:ext cx="329184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②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三方法統一嵌入式實作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3246120"/>
            <a:ext cx="3291840" cy="2560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把庫倫計數、EKF、動態阻抗放在同一套韌體骨架上、只替換最核心的估測模組，讓三法在「完全相同的環境」下運行——這是公平比較的前提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7847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27847" y="2240280"/>
            <a:ext cx="3630168" cy="8686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39" y="2286000"/>
            <a:ext cx="329184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③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首次同硬體公平基準＋決策表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7" y="3246120"/>
            <a:ext cx="3291840" cy="2560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首次把三法放在同電池、同協定、同晶片上，不只量精度、也量資源（Flash/RAM/CPU），把文獻裡「EKF 準但重、庫倫輕但會漂」這種定性印象，變成可重現的對照表與方法選用決策表 ★ 核心貢獻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三、文獻回顧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等效電路模型（ECM）與 SOC 估測方法分類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文獻回顧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285" y="1242060"/>
            <a:ext cx="3890069" cy="4373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85" y="1280160"/>
            <a:ext cx="3813869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62356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2-1　三種等效電路模型：內阻 / 一階 RC / 二階 RC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937760" y="1371600"/>
          <a:ext cx="67665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4416"/>
                <a:gridCol w="811987"/>
                <a:gridCol w="1804416"/>
                <a:gridCol w="234574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暫態描述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嵌入式適用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內阻 Rint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僅歐姆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極佳，動態誤差大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戴維寧 1-RC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單一時間常數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佳，精度/成本平衡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二階 2-RC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快慢雙常數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中，精度高成本高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937760" y="3063240"/>
            <a:ext cx="6812280" cy="3108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SOC 估測方法兩大類：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直接計量法：庫倫計數、OCV 查表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模型基礎法：卡爾曼濾波族（KF/EKF/UKF）、動態阻抗法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本文 EKF 採一階 RC：狀態維度低、參數辨識易，於單顆 NMC、室溫下足以支撐合理端電壓重建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C03A2B"/>
                </a:solidFill>
                <a:latin typeface="Microsoft JhengHei"/>
              </a:rPr>
              <a:t>商用 BMS IC（bq2x、ModelGauge）多採「庫倫＋OCV 週期修正」而非 EKF —— 正是 Flash/RAM/算力/成本的工程權衡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三、本文方法選擇依據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為何選庫倫計數、EKF、動態阻抗三者？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方法選擇依據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6 / 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37"/>
                <a:gridCol w="1233181"/>
                <a:gridCol w="1335946"/>
                <a:gridCol w="6679733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是否實作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選擇／排除依據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直接計量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必備 baseline，兼任三方法比較之 ground truth（基準真值）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OCV 查表（獨立）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✗ 排除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直接計量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需長時間靜置，與 rate-capability 協定相斥；改以 GITT 表供 EKF 用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模型基礎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工業事實標準；可自初值錯誤收斂；以 GITT OCV 表為觀測方程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模型基礎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文獻 [1] 主推；無須初值、即時可算、嵌入式友善；複用既有 dV/dI 擾動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34840"/>
            <a:ext cx="1115568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700" b="1" i="0">
                <a:solidFill>
                  <a:srgbClr val="1F3864"/>
                </a:solidFill>
                <a:latin typeface="Microsoft JhengHei"/>
              </a:rPr>
              <a:t>三者恰落在「精度─資源」權衡曲線的不同位置：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2E7D32"/>
                </a:solidFill>
                <a:latin typeface="Microsoft JhengHei"/>
              </a:rPr>
              <a:t>庫倫計數 → 基準與真值（資源下界）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2E74B5"/>
                </a:solidFill>
                <a:latin typeface="Microsoft JhengHei"/>
              </a:rPr>
              <a:t>EKF → 模型基礎之精度上界代表（資源代價最高）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C08A2B"/>
                </a:solidFill>
                <a:latin typeface="Microsoft JhengHei"/>
              </a:rPr>
              <a:t>動態阻抗 → 嵌入式輕量化代表（無須初值、實驗成本低）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四、測試平台系統架構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雙重角色：電池激勵/真值量測平台　＋　嵌入式估測標的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測試平台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7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54685" y="1242060"/>
            <a:ext cx="5788710" cy="4373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785" y="1280160"/>
            <a:ext cx="571251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77840"/>
            <a:ext cx="6766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3-1　測試平台系統架構（上位機經序列埠驅動電源/負載，INA226 經 10 mΩ shunt 量測）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06640" y="1417320"/>
          <a:ext cx="4297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926080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組成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型號／規格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微控制器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STM32G071RB，64 MHz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量測前端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INA226，10 mΩ shunt，I²C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直流電源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ITECH IT6302（CC-CV）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電子負載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IT8512A+（CC 模式）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上位機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Python orchestrator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受測電池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NMC 2000 mAh，4.2/2.5 V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406640" y="4892040"/>
            <a:ext cx="4297680" cy="14173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4892040"/>
            <a:ext cx="82296" cy="14173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5001768"/>
            <a:ext cx="3977640" cy="1234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公平比較的基礎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同一顆 DUT、同一條量測迴路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儀錶真值 vs MCU 估測逐點對齊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Kelvin 四線、單點共地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四、韌體骨架（方塊圖）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固定節拍 → once/loop 主架構 → 模組化資料流；三法只替換最核心的 SOC 估測模組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韌體骨架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8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5788152" cy="566928"/>
          </a:xfrm>
          <a:prstGeom prst="roundRect">
            <a:avLst/>
          </a:prstGeom>
          <a:solidFill>
            <a:srgbClr val="1F3864"/>
          </a:solidFill>
          <a:ln w="1587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</a:rPr>
              <a:t>100 µs 系統節拍（硬體計時器）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全系統共同時間基準；節拍只計數，累計到 1 s 觸發週期事件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1993392"/>
            <a:ext cx="310896" cy="384048"/>
          </a:xfrm>
          <a:prstGeom prst="downArrow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31720" y="2450592"/>
            <a:ext cx="3291840" cy="841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once()　開機初始化一次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通訊埠 / INA226 / 校正資料載入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15000" y="2697480"/>
            <a:ext cx="566928" cy="347472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2450592"/>
            <a:ext cx="3291840" cy="841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loop()　主迴圈反覆執行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依節拍分派週期事件；感測器缺席仍續行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3346704"/>
            <a:ext cx="310896" cy="384048"/>
          </a:xfrm>
          <a:prstGeom prst="down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Microsoft JhengHei"/>
              </a:rPr>
              <a:t>模組化資料流（task / flow / process 三層狀態機，低耦合、可獨立替換）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69080"/>
            <a:ext cx="1591056" cy="960120"/>
          </a:xfrm>
          <a:prstGeom prst="roundRect">
            <a:avLst/>
          </a:prstGeom>
          <a:solidFill>
            <a:srgbClr val="ECECEC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INA226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量測前端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167127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50592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量測匯流排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I²C 讀寫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0791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4256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電池量測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V / I / 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34456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校正套用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14 點 LUT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19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3" y="4069080"/>
            <a:ext cx="1591056" cy="960120"/>
          </a:xfrm>
          <a:prstGeom prst="roundRect">
            <a:avLst/>
          </a:prstGeom>
          <a:solidFill>
            <a:srgbClr val="E6F4E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2E7D32"/>
                </a:solidFill>
                <a:latin typeface="Microsoft JhengHei"/>
              </a:rPr>
              <a:t>SOC 估測 ★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三法共同掛載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701784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985248" y="4069080"/>
            <a:ext cx="1591056" cy="960120"/>
          </a:xfrm>
          <a:prstGeom prst="roundRect">
            <a:avLst/>
          </a:prstGeom>
          <a:solidFill>
            <a:srgbClr val="1F3864"/>
          </a:solidFill>
          <a:ln w="1587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每秒狀態回報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→ 上位機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85232"/>
            <a:ext cx="11201400" cy="10241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285232"/>
            <a:ext cx="82296" cy="10241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394960"/>
            <a:ext cx="10881360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設計要點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三法共讀同一筆校正後量測（共用前端）→ 杜絕「不同方法吃到不同量測」的不公平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估測核心可獨立開關替換；除錯通訊每秒輸出一行狀態供上位機即時監看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四、INA226 多點線性內插校正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電流精度是整個平台的根 — 所有 SOC 方法都以電流積分為基礎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量測校正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12064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C03A2B"/>
                </a:solidFill>
                <a:latin typeface="Microsoft JhengHei"/>
              </a:rPr>
              <a:t>校正前：電流系統性偏高約 15.8%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200 mA 讀為 230.4 mA；主因 shunt 實阻偏離標稱 10 mΩ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校正設計：分方向各 7 點、共 14 點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電流點 0 / 0.05 / 0.1 / 0.5 / 1.0 / 1.5 / 2.0 A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兼顧低電流 offset 區與高電流線性區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分段線性內插（非多項式），燒入 MCU flash 開機自動載入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2E7D32"/>
                </a:solidFill>
                <a:latin typeface="Microsoft JhengHei"/>
              </a:rPr>
              <a:t>校正後全範圍誤差 &lt; 0.21 mA（&lt; 1‰）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1.75 A 僅 0.012%，優於 datasheet ±0.1%（不含 shunt 容差）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852160" y="1554480"/>
          <a:ext cx="585215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697"/>
                <a:gridCol w="1207588"/>
                <a:gridCol w="1207588"/>
                <a:gridCol w="1207588"/>
                <a:gridCol w="1114697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目標(A)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真值(mA)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原始(mA)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預測(mA)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誤差(mA)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0.300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298.31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340.20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298.10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−0.21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0.750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748.78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851.32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748.56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−0.21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1.250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1248.46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1418.52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1248.29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−0.17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1.750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1748.61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1986.30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1748.44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−0.16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852160" y="3886200"/>
            <a:ext cx="58521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3-3　LUT 內插驗證（4 個未列入校正表的獨立電流點）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4343400"/>
            <a:ext cx="5852160" cy="17373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4343400"/>
            <a:ext cx="82296" cy="17373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53328" y="4453128"/>
            <a:ext cx="553212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校正觀察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充放電同電流點比值一致到小數第三位 → shunt 對方向無偏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高電流區比值收斂 0.880 → shunt 實阻 ≈ 11.36 mΩ（+13.6%）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四、跨輪自動化測試協定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一輪 = 四組「充電→休息→放電→休息」，約 16–18 小時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測試協定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10 / 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26"/>
                <a:gridCol w="6160770"/>
                <a:gridCol w="1568195"/>
                <a:gridCol w="246430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組別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流程（充電固定 0.5C）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放電倍率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目的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基準放電曲線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977639"/>
            <a:ext cx="557784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1" i="0">
                <a:solidFill>
                  <a:srgbClr val="1F3864"/>
                </a:solidFill>
                <a:latin typeface="Microsoft JhengHei"/>
              </a:rPr>
              <a:t>CC-CV 充電終止：V ≥ Vcv 且電流衰減至 0.1C 以下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1" i="0">
                <a:solidFill>
                  <a:srgbClr val="1F3864"/>
                </a:solidFill>
                <a:latin typeface="Microsoft JhengHei"/>
              </a:rPr>
              <a:t>放電中注入 dV/dI 擾動：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每 60 s 步降至 0.2C、dwell 1 s，取前後穩態算 ΔV/ΔI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直接服務動態阻抗法；庫倫涵蓋擾動秒數，避免約 3% 低估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977639"/>
            <a:ext cx="5440680" cy="2331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3977639"/>
            <a:ext cx="82296" cy="2331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4087367"/>
            <a:ext cx="5120640" cy="2148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持久化與品質閘門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cycle_log.csv 跨輪持久化：cycle_id / round_id / 容量保持率 / 累積 Ah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跨次執行自動續接 round_id，無縫累積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三輪 fresh-cell baseline 作為資料品質閘門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五、庫倫計數法（兼基準真值）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原理 → 演算法 → 嵌入式實作 → 實驗結果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方法一：庫倫計數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11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100" y="1291496"/>
            <a:ext cx="3459480" cy="4183567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9596"/>
            <a:ext cx="3383280" cy="4107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3383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4-1　庫倫計數 SOC 更新流程（每秒一次）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280160"/>
            <a:ext cx="758952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原理：對電流積分累計電量變化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Times New Roman"/>
              </a:rPr>
              <a:t>SOC(t) = SOC(t₀) − (1/C_rated) ∫ I(τ) dτ　（放電為正）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嵌入式實作：三法中最輕量 — 每秒一乘一加，無查表、無矩陣 → 資源下界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3200400"/>
            <a:ext cx="7589520" cy="169164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3200400"/>
            <a:ext cx="82296" cy="169164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3310128"/>
            <a:ext cx="7269480" cy="1508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為什麼它能當「標準答案」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它只靠電流加總算出來，不靠電池模型，不會因為模型不準而出錯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電流已經校到誤差小於千分之一，加總的底子很可靠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每次放電都用「這次實際放出的總電量」當刻度：充滿算 100%、放到底算 0%，頭尾都對得準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5029200"/>
            <a:ext cx="7589520" cy="137160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5029200"/>
            <a:ext cx="82296" cy="13716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5138928"/>
            <a:ext cx="726948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3A2B"/>
                </a:solidFill>
                <a:latin typeface="Microsoft JhengHei"/>
              </a:rPr>
              <a:t>它單獨用會有的三個問題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一開始要先知道現在大概幾 %；如果一開始就猜錯，之後會一直錯下去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電流量測只要有一點點固定偏差，一直加總就會越積越大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電池會老化、能裝的電變少，用固定容量去算就會偏——而且它自己不會發現、也不會修正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六、rate-capability 實測（庫倫，實測）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fresh-cell 三輪各倍率放電容量 — ground truth 有效性驗證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實測：容量再現性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12 / 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6583677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023"/>
                <a:gridCol w="1453539"/>
                <a:gridCol w="1453539"/>
                <a:gridCol w="1453539"/>
                <a:gridCol w="1368037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1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2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3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平均保持率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1677.6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1661.9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1657.5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~100.0%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1651.8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1660.0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1658.7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~99.5%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1646.7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1657.4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1655.7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~99.3%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1644.9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1652.1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1647.4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~98.9%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840480"/>
            <a:ext cx="6583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4-1　fresh-cell 三輪各倍率實測放電容量（cycles 1–13）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417320"/>
            <a:ext cx="4389120" cy="237744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417320"/>
            <a:ext cx="82296" cy="237744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16368" y="1527048"/>
            <a:ext cx="406908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觀察 ①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rate capability 極平坦：0.5C→2.0C 容量僅降約 1%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內阻低、極化小；高倍率端電壓仍接近 OCV，模型失配小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為後續模型方法（EKF/動態阻抗）比較的有利條件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297680"/>
            <a:ext cx="11201400" cy="178308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297680"/>
            <a:ext cx="82296" cy="17830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407408"/>
            <a:ext cx="10881360" cy="160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觀察 ②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同倍率跨輪再現性佳（0.5C 三輪 1657–1678 mAh）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佐證測試協定 + INA226 校正之穩定性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此滿放容量即 SOC 真值正規化所用的 q_full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五、擴展卡爾曼濾波器（EKF）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融合電流積分（預測）與端電壓（更新），可自初值錯誤收斂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方法二：EKF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100" y="1319038"/>
            <a:ext cx="4008120" cy="4128484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7138"/>
            <a:ext cx="3931920" cy="405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4-2　EKF 預測—更新遞迴（一階 RC，狀態 [SOC, V₁]）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280160"/>
            <a:ext cx="694944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狀態空間（一階 RC、狀態二維）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Times New Roman"/>
              </a:rPr>
              <a:t>x = [SOC, V₁]ᵀ，輸入 I，輸出 Vt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Times New Roman"/>
              </a:rPr>
              <a:t>Vt = Voc(SOC) − I·R₀ − V₁，觀測非線性源自 Voc(SOC)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OCV–SOC 由 GITT 標準協定建 pseudo-OCV 表，1% 細網格平滑使雅可比連續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2E7D32"/>
                </a:solidFill>
                <a:latin typeface="Microsoft JhengHei"/>
              </a:rPr>
              <a:t>嵌入式關鍵：狀態二維、觀測一維 → 增益只需一次純量除法、免矩陣求逆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4023360"/>
            <a:ext cx="6949440" cy="219456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402336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6048" y="4133088"/>
            <a:ext cx="662940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代價與現況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兼具庫倫的良好動態 + OCV 的絕對校正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MCU 無硬體 FPU → 軟浮點模擬，單次更新最耗時、Flash/RAM 最大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4.2.5 精度為 [待測]（依賴 GITT 表 + PC 原型 + STM32 移植）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五、動態阻抗法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以端電壓對電流的瞬時變化率推估 SOC — 無須初值、無須靜置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方法三：動態阻抗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14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588" y="1242060"/>
            <a:ext cx="3216503" cy="42824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88" y="1280160"/>
            <a:ext cx="314030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3383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4-3　離線建表 + 即時估測流程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280160"/>
            <a:ext cx="758952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Times New Roman"/>
              </a:rPr>
              <a:t>動態阻抗 Z = ΔV / ΔI（相鄰擾動兩點）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Times New Roman"/>
              </a:rPr>
              <a:t>關鍵發現：Z 與 SOC 呈拋物線　ΔV/ΔI = a·SOC² + b·SOC + c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滿電與放空時阻抗高、SOC≈50% 最小；對稱 → 以斜率正負判分枝取唯一解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兩階段：離線建表（PC 擬合 a,b,c 存晶片）→ 即時估測（晶片偵測擾動解二次式）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4023360"/>
            <a:ext cx="7589520" cy="2194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402336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4133088"/>
            <a:ext cx="726948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工程優勢與特性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複用 rate-capability 既有 dV/dI 擾動段，無須額外實驗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運算僅差分 + 低階多項式 → 介於庫倫與 EKF 之間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僅擾動事件（每 60 s）產生獨立估測，事件間以庫倫內插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六、動態阻抗實測結果（fresh-cell rounds 1–3）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二次擬合 + 以擬合反推 SOC 之逐點精度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實測：動態阻抗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7335" y="1242060"/>
            <a:ext cx="4420369" cy="28194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35" y="1280160"/>
            <a:ext cx="4344169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114800"/>
            <a:ext cx="51206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4-4　|ΔV/ΔI|–SOC 實測散點與二次擬合（四種放電倍率）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0720" y="1417320"/>
          <a:ext cx="5943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5500"/>
                <a:gridCol w="825500"/>
                <a:gridCol w="825500"/>
                <a:gridCol w="825500"/>
                <a:gridCol w="908050"/>
                <a:gridCol w="742950"/>
                <a:gridCol w="990600"/>
              </a:tblGrid>
              <a:tr h="39624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a (mΩ)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b (mΩ)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c (mΩ)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最低點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殘差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反推RMSE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24.5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−27.9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66.6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56.9%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3.54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9.7%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14.9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−15.4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61.8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51.7%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0.62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6.6%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15.6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−14.6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60.3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46.9%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6.6%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16.2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−14.0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59.0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43.3%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6.3%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合併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20.2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−21.6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63.6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53.4%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2.90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0720" y="3886200"/>
            <a:ext cx="5943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4-3　二次擬合係數與反推精度（mΩ；SOC 以分數代入）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434840"/>
            <a:ext cx="11201400" cy="1828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434840"/>
            <a:ext cx="82296" cy="1828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44568"/>
            <a:ext cx="1088136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關鍵觀察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最低點約 SOC 53%，與理論「最小值在 50% 附近」一致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高倍率殘差低至 ~0.5 mΩ；低倍率 SNR 差、殘差 ~3.5 mΩ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反推 RMSE 6–10%；SOC 中段(40–60%)誤差大 → 阻抗平緩 → 反推病態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正當化「動態阻抗離散校正 + 庫倫內插」混合策略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六、三方法公平比較框架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精度 × 強健性 × 嵌入式資源（同電池・同協定・同 MCU）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16 / 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20139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868"/>
                <a:gridCol w="1768642"/>
                <a:gridCol w="2554705"/>
                <a:gridCol w="2259931"/>
                <a:gridCol w="2259931"/>
                <a:gridCol w="884321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精度 RMSE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強健性（初值錯誤）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Flash/RAM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每次更新運算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浮點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[待測]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不收斂（無修正）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資源下界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一乘一加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否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[待測]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可自初值錯誤收斂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最大（另需 OCV 表)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最高（軟浮點）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是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6–10%（實測）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首個擾動即重估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只存幾個係數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差分+二次式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是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931920"/>
            <a:ext cx="11201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4-4 / 4-6　精度與嵌入式 footprint 比較（動態阻抗為實測，餘 [待測]）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343400"/>
            <a:ext cx="5486400" cy="1828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343400"/>
            <a:ext cx="82296" cy="1828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453128"/>
            <a:ext cx="516636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精度─資源權衡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庫倫計數最省資源，但無自我修正能力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EKF 精度/強健性最佳，但 Flash/RAM/運算代價最高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動態阻抗居中，且實驗成本最低（複用擾動）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4343400"/>
            <a:ext cx="5440680" cy="182880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4343400"/>
            <a:ext cx="82296" cy="1828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4453128"/>
            <a:ext cx="512064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本研究的填補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在同一硬體實測 Flash/RAM/CPU cycles，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量化「商用 IC 為何多捨 EKF」之工程權衡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★ 填補文獻少見之缺口（核心貢獻）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七、系統整合與長期再現性（實測）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三法並行架構　＋　老化訊號與量測噪聲之分離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系統整合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21208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三法並行整合策略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共用量測前端（同一筆量測，杜絕不公平）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分離估測核心（各自獨立狀態、可開關）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統一輸出 + 交叉校正掛勾</a:t>
            </a:r>
          </a:p>
          <a:p>
            <a:pPr lvl="1"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2E7D32"/>
                </a:solidFill>
                <a:latin typeface="Microsoft JhengHei"/>
              </a:rPr>
              <a:t>邊際成本可加性 → 並行資源 ≈ 各 footprint 之和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749039"/>
          <a:ext cx="521207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323"/>
                <a:gridCol w="1603716"/>
                <a:gridCol w="1303020"/>
                <a:gridCol w="13030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平均(mAh)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標準差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CV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1665.7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8.64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0.519%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1656.8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3.60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0.217%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1653.3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4.68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0.283%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1648.1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2.96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0.179%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806440"/>
            <a:ext cx="52120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5-2　fresh-cell 三輪變異性（噪聲下界）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89320" y="1371600"/>
          <a:ext cx="57149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090"/>
                <a:gridCol w="1350818"/>
                <a:gridCol w="1766454"/>
                <a:gridCol w="1558636"/>
              </a:tblGrid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日期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0.5C 保持率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容量(mAh)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05-12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100.76%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1677.6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05-22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99.30%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1653.4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06-02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98.27%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1636.3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06-14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97.45%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1622.5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06-19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97.03%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1615.5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89320" y="3749039"/>
            <a:ext cx="5715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5-3　0.5C 容量保持率長期趨勢（rounds 1–38）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4160520"/>
            <a:ext cx="5715000" cy="210312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4160520"/>
            <a:ext cx="82296" cy="21031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0488" y="4270248"/>
            <a:ext cx="5394960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老化／噪聲分離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三輪變異 CV &lt; 0.52%（噪聲下界）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38 輪累計衰退約 3.7%（真實老化）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老化 ≈ 7× 噪聲 → 可乾淨分離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支撐「逐 cycle 重錨庫倫真值」之正當性，並為 SOH 延伸提供實證基礎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八、結論與方法選用決策表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核心命題：嵌入式資源約束下的「精度─成本權衡」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結論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18 / 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0490"/>
                <a:gridCol w="3080385"/>
                <a:gridCol w="4200525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應用約束情境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首選方法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主要代價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極低成本/算力（8-bit、無 FPU、Flash&lt;8KB）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 + 靜置 OCV 修正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無自我修正、初值錯誤不收斂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中階、需自初值錯誤恢復、長期免校正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EKF（一階 RC）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需 OCV 表；運算/Flash/RAM 代價最大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工作中即時、無靜置、實驗成本敏感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 + 庫倫內插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中段反推病態；僅事件處獨立估測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高可靠、資源充裕、追求最佳整體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三法混合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整合複雜度與資源佔用最高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251960"/>
            <a:ext cx="11201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6-1　SOC 方法選用決策表（動態阻抗為實測，餘待 [待測] 回填升級為定量）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709160"/>
            <a:ext cx="11201400" cy="146304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709160"/>
            <a:ext cx="82296" cy="146304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818888"/>
            <a:ext cx="1088136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核心結論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不存在單一最優方法 — 最優選擇取決於目標硬體資源約束與應用需求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本研究價值：將此權衡由「文獻中的定性印象」轉化為「同硬體實測支撐的決策依據」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八、研究限制與未來工作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未來工作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19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429768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00" cy="548640"/>
          </a:xfrm>
          <a:prstGeom prst="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Microsoft JhengHei"/>
              </a:rPr>
              <a:t>研究限制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5074920" cy="3566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單一電池化學體系與樣本（僅一顆 NMC）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室溫、無溫度補償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僅做 SOC，未做 SOH（已測到可分離老化訊號）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rate capability 平坦為有利條件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EKF 精度與三法 footprint 部分待實測回填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280160"/>
            <a:ext cx="5440680" cy="429768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280160"/>
            <a:ext cx="544068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2588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Microsoft JhengHei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65960"/>
            <a:ext cx="5029200" cy="3566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SOH 估測延伸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容量衰退追蹤、內阻成長法、投影法/ICA（複用既有量測）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LFP 電池遲滯處理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遲滯狀態模型擴充至 EKF；動態阻抗不依賴 OCV 之對照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資料驅動融合與雲端 fleet learning</a:t>
            </a:r>
          </a:p>
          <a:p>
            <a:pPr lvl="1"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輕量 NN 融合三法輸出；多電池雲端回饋校正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201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敬請各位口試委員指教　—　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